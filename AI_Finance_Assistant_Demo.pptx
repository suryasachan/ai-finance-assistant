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1 · THE CHALLENGE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Why Traditional GenAI Fails in Financial Analytics</a:t>
            </a:r>
          </a:p>
          <a:p>
            <a:pPr>
              <a:spcBef>
                <a:spcPts val="400"/>
              </a:spcBef>
              <a:defRPr sz="1300">
                <a:solidFill>
                  <a:srgbClr val="CBD5E1"/>
                </a:solidFill>
              </a:defRPr>
            </a:pPr>
            <a:r>
              <a:t>Finance requires 100% precision. Standard LLMs are probabilistic, prone to hallucinations, and lack auditability.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57400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01. The Hallucination Hazard</a:t>
            </a:r>
          </a:p>
          <a:p>
            <a:pPr>
              <a:spcBef>
                <a:spcPts val="1000"/>
              </a:spcBef>
              <a:spcAft>
                <a:spcPts val="1400"/>
              </a:spcAft>
              <a:defRPr sz="1200">
                <a:solidFill>
                  <a:srgbClr val="CBD5E1"/>
                </a:solidFill>
              </a:defRPr>
            </a:pPr>
            <a:r>
              <a:t>LLMs invent plausible numbers, miscalculate sums, and fabricate transactions. In finance, an answer that is 'roughly right' is completely unacceptable.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LLMs cannot do reliable multi-step math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Unchecked outputs create compliance &amp; balance sheet risks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Generative text conceals subtle data fabrication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28416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2057400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818CF8"/>
                </a:solidFill>
              </a:defRPr>
            </a:pPr>
            <a:r>
              <a:t>02. The Security &amp; Cost Barrier</a:t>
            </a:r>
          </a:p>
          <a:p>
            <a:pPr>
              <a:spcBef>
                <a:spcPts val="1000"/>
              </a:spcBef>
              <a:spcAft>
                <a:spcPts val="1400"/>
              </a:spcAft>
              <a:defRPr sz="1200">
                <a:solidFill>
                  <a:srgbClr val="CBD5E1"/>
                </a:solidFill>
              </a:defRPr>
            </a:pPr>
            <a:r>
              <a:t>Sending enterprise ledger data to cloud frontier models (GPT-4) creates massive privacy exposure and unsustainable token bills.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High latency and recurring token costs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Sensitive vendor/account data exposed to external APIs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Complete dependency on internet availability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28416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057400"/>
            <a:ext cx="287121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BBF24"/>
                </a:solidFill>
              </a:defRPr>
            </a:pPr>
            <a:r>
              <a:t>03. The 'Black Box' Trust Deficit</a:t>
            </a:r>
          </a:p>
          <a:p>
            <a:pPr>
              <a:spcBef>
                <a:spcPts val="1000"/>
              </a:spcBef>
              <a:spcAft>
                <a:spcPts val="1400"/>
              </a:spcAft>
              <a:defRPr sz="1200">
                <a:solidFill>
                  <a:srgbClr val="CBD5E1"/>
                </a:solidFill>
              </a:defRPr>
            </a:pPr>
            <a:r>
              <a:t>When an AI claims 'spend was ₹4.2 Cr', auditors and CFOs cannot verify how the number was derived or what filters were applied.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Zero lineage back to underlying records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No inspectable SQL or query plan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Inability to prove reconciliation or spot anomalies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2 · SOLUTION &amp; ARCHITECTURE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Dual-Engine Architecture: AI Understands, SQL Computes, Guardrail Verifies</a:t>
            </a:r>
          </a:p>
          <a:p>
            <a:pPr>
              <a:spcBef>
                <a:spcPts val="400"/>
              </a:spcBef>
              <a:defRPr sz="1300">
                <a:solidFill>
                  <a:srgbClr val="CBD5E1"/>
                </a:solidFill>
              </a:defRPr>
            </a:pPr>
            <a:r>
              <a:t>Language models handle natural language translation; deterministic SQL executes all arithmetic; a guardrail verifies every digit.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Natural Language Planning</a:t>
            </a:r>
          </a:p>
          <a:p>
            <a:pPr>
              <a:spcBef>
                <a:spcPts val="200"/>
              </a:spcBef>
              <a:spcAft>
                <a:spcPts val="800"/>
              </a:spcAft>
              <a:defRPr sz="1000" b="1">
                <a:solidFill>
                  <a:srgbClr val="CBD5E1"/>
                </a:solidFill>
              </a:defRPr>
            </a:pPr>
            <a:r>
              <a:t>[planner.py]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</a:defRPr>
            </a:pPr>
            <a:r>
              <a:t>User asks a question in plain English.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3-Tier Strategy: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t>• Tier 1: Small LLM in JSON mode produces a strict 10-key QueryPlan.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t>• Tier 2: 1-shot repair loop if invalid.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t>• Tier 3: Deterministic regex parser (works 100% offline).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82880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201168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18CF8"/>
                </a:solidFill>
              </a:defRPr>
            </a:pPr>
            <a:r>
              <a:t>2. Safe SQL Generation</a:t>
            </a:r>
          </a:p>
          <a:p>
            <a:pPr>
              <a:spcBef>
                <a:spcPts val="200"/>
              </a:spcBef>
              <a:spcAft>
                <a:spcPts val="800"/>
              </a:spcAft>
              <a:defRPr sz="1000" b="1">
                <a:solidFill>
                  <a:srgbClr val="CBD5E1"/>
                </a:solidFill>
              </a:defRPr>
            </a:pPr>
            <a:r>
              <a:t>[sql_builder.py]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</a:defRPr>
            </a:pPr>
            <a:r>
              <a:t>Python whitelist builder converts the verified QueryPlan into parameterised SQL.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t>• Model NEVER writes SQL directly.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t>• Immune to SQL injection.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t>• Masked sensitive columns (accounts, UTR).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82880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4224" y="201168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</a:defRPr>
            </a:pPr>
            <a:r>
              <a:t>3. Analytical Execution</a:t>
            </a:r>
          </a:p>
          <a:p>
            <a:pPr>
              <a:spcBef>
                <a:spcPts val="200"/>
              </a:spcBef>
              <a:spcAft>
                <a:spcPts val="800"/>
              </a:spcAft>
              <a:defRPr sz="1000" b="1">
                <a:solidFill>
                  <a:srgbClr val="CBD5E1"/>
                </a:solidFill>
              </a:defRPr>
            </a:pPr>
            <a:r>
              <a:t>[executor.py + DuckDB]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</a:defRPr>
            </a:pPr>
            <a:r>
              <a:t>DuckDB executes the query locally over in-memory columnar data.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t>• Sub-50ms execution over 250k+ rows.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t>• Generates totals, groupings &amp; comparisons.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t>• Anomaly detector flags outliers (≥2.5σ).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828800"/>
            <a:ext cx="246888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89136" y="201168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</a:defRPr>
            </a:pPr>
            <a:r>
              <a:t>4. Number Guardrail &amp; Narration</a:t>
            </a:r>
          </a:p>
          <a:p>
            <a:pPr>
              <a:spcBef>
                <a:spcPts val="200"/>
              </a:spcBef>
              <a:spcAft>
                <a:spcPts val="800"/>
              </a:spcAft>
              <a:defRPr sz="1000" b="1">
                <a:solidFill>
                  <a:srgbClr val="CBD5E1"/>
                </a:solidFill>
              </a:defRPr>
            </a:pPr>
            <a:r>
              <a:t>[answer.py]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</a:defRPr>
            </a:pPr>
            <a:r>
              <a:t>Answer narrator produces natural English.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t>• Strict Anti-Hallucination Guardrail: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</a:defRPr>
            </a:pPr>
            <a:r>
              <a:t>  Every numeric token in the reply is verified against SQL facts.</a:t>
            </a:r>
          </a:p>
          <a:p>
            <a:pPr>
              <a:spcBef>
                <a:spcPts val="300"/>
              </a:spcBef>
              <a:defRPr sz="1100">
                <a:solidFill>
                  <a:srgbClr val="F8FAFC"/>
                </a:solidFill>
              </a:defRPr>
            </a:pPr>
            <a:r>
              <a:t>• If 1 digit is unverifiable, LLM text is discarded for deterministic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3 · MODEL CHOICE RATIONALE</a:t>
            </a:r>
          </a:p>
          <a:p>
            <a:pPr>
              <a:spcBef>
                <a:spcPts val="400"/>
              </a:spcBef>
              <a:defRPr sz="2400" b="1">
                <a:solidFill>
                  <a:srgbClr val="F8FAFC"/>
                </a:solidFill>
              </a:defRPr>
            </a:pPr>
            <a:r>
              <a:t>Selected Model: Qwen2.5-3B-Instruct — Lowest Size, Maximum Reliability</a:t>
            </a:r>
          </a:p>
          <a:p>
            <a:pPr>
              <a:spcBef>
                <a:spcPts val="400"/>
              </a:spcBef>
              <a:defRPr sz="1300">
                <a:solidFill>
                  <a:srgbClr val="CBD5E1"/>
                </a:solidFill>
              </a:defRPr>
            </a:pPr>
            <a:r>
              <a:t>Why a compact 3B local model outperforms bloated frontier models for enterprise financial inquiry.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621792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5669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Strategic Advantages of Qwen2.5-3B-Instruct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1. Narrow Responsibility by Design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</a:defRPr>
            </a:pPr>
            <a:r>
              <a:t>The LLM is only tasked with slot-filling into a 10-key JSON schema and phrasing final text. It is NEVER asked to write arbitrary SQL or compute arithmetic.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2. Ultra-Lightweight Local Execution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</a:defRPr>
            </a:pPr>
            <a:r>
              <a:t>Consumes just ~2GB RAM at 4-bit quantisation. Runs effortlessly on CPU/laptop via Ollama with zero external cloud dependencies or API costs.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3. Superior JSON Adherence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</a:defRPr>
            </a:pPr>
            <a:r>
              <a:t>Outperformed comparable models (Llama-3.2-3B, Phi-3.5-mini) in adhering strictly to JSON formatting without verbose, unparseable conversational filler.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4. Tier 3 Deterministic Safety Net</a:t>
            </a:r>
          </a:p>
          <a:p>
            <a:pPr>
              <a:spcBef>
                <a:spcPts val="200"/>
              </a:spcBef>
              <a:defRPr sz="1100">
                <a:solidFill>
                  <a:srgbClr val="CBD5E1"/>
                </a:solidFill>
              </a:defRPr>
            </a:pPr>
            <a:r>
              <a:t>The architecture includes a rule-based engine that achieves 20/20 on accuracy benchmarks even when the LLM is completely offline. AI expands phrasing, not accuracy.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78040" y="1828800"/>
            <a:ext cx="4279392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2057400"/>
            <a:ext cx="3730752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4D399"/>
                </a:solidFill>
              </a:defRPr>
            </a:pPr>
            <a:r>
              <a:t>Benchmark &amp; Efficiency Metrics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• Parameter Size: </a:t>
            </a:r>
            <a:r>
              <a:rPr b="0">
                <a:solidFill>
                  <a:srgbClr val="38BDF8"/>
                </a:solidFill>
              </a:rPr>
              <a:t>3 Billion (6× below the 20B cap)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• Benchmark Accuracy: </a:t>
            </a:r>
            <a:r>
              <a:rPr b="0">
                <a:solidFill>
                  <a:srgbClr val="38BDF8"/>
                </a:solidFill>
              </a:rPr>
              <a:t>20 / 20 (100% on ground-truth SQL test)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• Prompt Footprint: </a:t>
            </a:r>
            <a:r>
              <a:rPr b="0">
                <a:solidFill>
                  <a:srgbClr val="38BDF8"/>
                </a:solidFill>
              </a:rPr>
              <a:t>≈ 550 tokens (compact ~350 token schema)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• Completion Budget: </a:t>
            </a:r>
            <a:r>
              <a:rPr b="0">
                <a:solidFill>
                  <a:srgbClr val="38BDF8"/>
                </a:solidFill>
              </a:rPr>
              <a:t>≈ 120 tokens (fast, deterministic JSON)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• Query Latency: </a:t>
            </a:r>
            <a:r>
              <a:rPr b="0">
                <a:solidFill>
                  <a:srgbClr val="38BDF8"/>
                </a:solidFill>
              </a:rPr>
              <a:t>3 – 65 ms on DuckDB (over 250k records)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• Deployment Mode: </a:t>
            </a:r>
            <a:r>
              <a:rPr b="0">
                <a:solidFill>
                  <a:srgbClr val="38BDF8"/>
                </a:solidFill>
              </a:rPr>
              <a:t>Local Ollama / CPU, zero cloud data leak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• Model Swappability: </a:t>
            </a:r>
            <a:r>
              <a:rPr b="0">
                <a:solidFill>
                  <a:srgbClr val="38BDF8"/>
                </a:solidFill>
              </a:rPr>
              <a:t>Compatible with OpenAI/Sarvam drop-in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