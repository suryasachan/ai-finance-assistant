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1 · THE CHALLENGE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Why Traditional GenAI Fails in Financial Analytics</a:t>
            </a:r>
          </a:p>
          <a:p>
            <a:pPr>
              <a:spcBef>
                <a:spcPts val="400"/>
              </a:spcBef>
              <a:defRPr sz="1300">
                <a:solidFill>
                  <a:srgbClr val="CBD5E1"/>
                </a:solidFill>
              </a:defRPr>
            </a:pPr>
            <a:r>
              <a:t>Finance requires 100% precision. Standard LLMs are probabilistic, prone to hallucinations, and lack auditability.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328416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65960"/>
            <a:ext cx="287121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01. The Hallucination Hazard</a:t>
            </a:r>
          </a:p>
          <a:p>
            <a:pPr>
              <a:spcBef>
                <a:spcPts val="1000"/>
              </a:spcBef>
              <a:spcAft>
                <a:spcPts val="1400"/>
              </a:spcAft>
              <a:defRPr sz="1200">
                <a:solidFill>
                  <a:srgbClr val="CBD5E1"/>
                </a:solidFill>
              </a:defRPr>
            </a:pPr>
            <a:r>
              <a:t>LLMs invent plausible numbers, miscalculate sums, and fabricate transactions. In finance, an answer that is 'roughly right' is completely unacceptable.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• LLMs cannot do reliable multi-step math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• Unchecked outputs create compliance &amp; balance sheet risks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• Generative text conceals subtle data fabrication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737360"/>
            <a:ext cx="3328416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965960"/>
            <a:ext cx="287121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818CF8"/>
                </a:solidFill>
              </a:defRPr>
            </a:pPr>
            <a:r>
              <a:t>02. The Security &amp; Cost Barrier</a:t>
            </a:r>
          </a:p>
          <a:p>
            <a:pPr>
              <a:spcBef>
                <a:spcPts val="1000"/>
              </a:spcBef>
              <a:spcAft>
                <a:spcPts val="1400"/>
              </a:spcAft>
              <a:defRPr sz="1200">
                <a:solidFill>
                  <a:srgbClr val="CBD5E1"/>
                </a:solidFill>
              </a:defRPr>
            </a:pPr>
            <a:r>
              <a:t>Sending enterprise ledger data to cloud frontier models (GPT-4) creates massive privacy exposure and unsustainable token bills.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• High latency and recurring token costs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• Sensitive vendor/account data exposed to external APIs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• Complete dependency on internet availability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737360"/>
            <a:ext cx="3328416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965960"/>
            <a:ext cx="287121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BBF24"/>
                </a:solidFill>
              </a:defRPr>
            </a:pPr>
            <a:r>
              <a:t>03. The 'Black Box' Trust Deficit</a:t>
            </a:r>
          </a:p>
          <a:p>
            <a:pPr>
              <a:spcBef>
                <a:spcPts val="1000"/>
              </a:spcBef>
              <a:spcAft>
                <a:spcPts val="1400"/>
              </a:spcAft>
              <a:defRPr sz="1200">
                <a:solidFill>
                  <a:srgbClr val="CBD5E1"/>
                </a:solidFill>
              </a:defRPr>
            </a:pPr>
            <a:r>
              <a:t>When an AI claims 'spend was ₹4.2 Cr', auditors and CFOs cannot verify how the number was derived or what filters were applied.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• Zero lineage back to underlying records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• No inspectable SQL or query plan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• Inability to prove reconciliation or spot anomalies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rchitecture_high_level_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20040"/>
            <a:ext cx="11460175" cy="62179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3 · MODEL CHOICE RATIONALE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Selected Model: Qwen2.5-3B-Instruct — Lowest Size, Maximum Reliability</a:t>
            </a:r>
          </a:p>
          <a:p>
            <a:pPr>
              <a:spcBef>
                <a:spcPts val="400"/>
              </a:spcBef>
              <a:defRPr sz="1300">
                <a:solidFill>
                  <a:srgbClr val="CBD5E1"/>
                </a:solidFill>
              </a:defRPr>
            </a:pPr>
            <a:r>
              <a:t>Why a compact 3B local model outperforms bloated frontier models for enterprise financial inquiry.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621792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65960"/>
            <a:ext cx="5669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Strategic Advantages of Qwen2.5-3B-Instruct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1. Narrow Responsibility by Design</a:t>
            </a:r>
          </a:p>
          <a:p>
            <a:pPr>
              <a:spcBef>
                <a:spcPts val="200"/>
              </a:spcBef>
              <a:defRPr sz="1100">
                <a:solidFill>
                  <a:srgbClr val="CBD5E1"/>
                </a:solidFill>
              </a:defRPr>
            </a:pPr>
            <a:r>
              <a:t>The LLM is only tasked with slot-filling into a 10-key JSON schema and phrasing final text. It is NEVER asked to write arbitrary SQL or compute arithmetic.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2. Ultra-Lightweight Local Execution</a:t>
            </a:r>
          </a:p>
          <a:p>
            <a:pPr>
              <a:spcBef>
                <a:spcPts val="200"/>
              </a:spcBef>
              <a:defRPr sz="1100">
                <a:solidFill>
                  <a:srgbClr val="CBD5E1"/>
                </a:solidFill>
              </a:defRPr>
            </a:pPr>
            <a:r>
              <a:t>Consumes just ~2GB RAM at 4-bit quantisation. Runs effortlessly on CPU/laptop via Ollama with zero external cloud dependencies or API costs.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3. Superior JSON Adherence</a:t>
            </a:r>
          </a:p>
          <a:p>
            <a:pPr>
              <a:spcBef>
                <a:spcPts val="200"/>
              </a:spcBef>
              <a:defRPr sz="1100">
                <a:solidFill>
                  <a:srgbClr val="CBD5E1"/>
                </a:solidFill>
              </a:defRPr>
            </a:pPr>
            <a:r>
              <a:t>Outperformed comparable models (Llama-3.2-3B, Phi-3.5-mini) in adhering strictly to JSON formatting without verbose, unparseable conversational filler.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4. Tier 3 Deterministic Safety Net</a:t>
            </a:r>
          </a:p>
          <a:p>
            <a:pPr>
              <a:spcBef>
                <a:spcPts val="200"/>
              </a:spcBef>
              <a:defRPr sz="1100">
                <a:solidFill>
                  <a:srgbClr val="CBD5E1"/>
                </a:solidFill>
              </a:defRPr>
            </a:pPr>
            <a:r>
              <a:t>The architecture includes a rule-based engine that achieves 20/20 on accuracy benchmarks even when the LLM is completely offline. AI expands phrasing, not accuracy.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78040" y="1737360"/>
            <a:ext cx="4279392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52360" y="1965960"/>
            <a:ext cx="373075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4D399"/>
                </a:solidFill>
              </a:defRPr>
            </a:pPr>
            <a:r>
              <a:t>Benchmark &amp; Efficiency Metrics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</a:defRPr>
            </a:pPr>
            <a:r>
              <a:t>• Parameter Size: </a:t>
            </a:r>
            <a:r>
              <a:rPr b="0">
                <a:solidFill>
                  <a:srgbClr val="38BDF8"/>
                </a:solidFill>
              </a:rPr>
              <a:t>3 Billion (6× below the 20B cap)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</a:defRPr>
            </a:pPr>
            <a:r>
              <a:t>• Benchmark Accuracy: </a:t>
            </a:r>
            <a:r>
              <a:rPr b="0">
                <a:solidFill>
                  <a:srgbClr val="38BDF8"/>
                </a:solidFill>
              </a:rPr>
              <a:t>20 / 20 (100% on ground-truth SQL test)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</a:defRPr>
            </a:pPr>
            <a:r>
              <a:t>• Prompt Footprint: </a:t>
            </a:r>
            <a:r>
              <a:rPr b="0">
                <a:solidFill>
                  <a:srgbClr val="38BDF8"/>
                </a:solidFill>
              </a:rPr>
              <a:t>≈ 550 tokens (compact ~350 token schema)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</a:defRPr>
            </a:pPr>
            <a:r>
              <a:t>• Completion Budget: </a:t>
            </a:r>
            <a:r>
              <a:rPr b="0">
                <a:solidFill>
                  <a:srgbClr val="38BDF8"/>
                </a:solidFill>
              </a:rPr>
              <a:t>≈ 120 tokens (fast, deterministic JSON)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</a:defRPr>
            </a:pPr>
            <a:r>
              <a:t>• Query Latency: </a:t>
            </a:r>
            <a:r>
              <a:rPr b="0">
                <a:solidFill>
                  <a:srgbClr val="38BDF8"/>
                </a:solidFill>
              </a:rPr>
              <a:t>3 – 65 ms on DuckDB (over 250k records)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</a:defRPr>
            </a:pPr>
            <a:r>
              <a:t>• Deployment Mode: </a:t>
            </a:r>
            <a:r>
              <a:rPr b="0">
                <a:solidFill>
                  <a:srgbClr val="38BDF8"/>
                </a:solidFill>
              </a:rPr>
              <a:t>Local Ollama / CPU, zero cloud data leak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</a:defRPr>
            </a:pPr>
            <a:r>
              <a:t>• Model Swappability: </a:t>
            </a:r>
            <a:r>
              <a:rPr b="0">
                <a:solidFill>
                  <a:srgbClr val="38BDF8"/>
                </a:solidFill>
              </a:rPr>
              <a:t>Compatible with OpenAI/Sarvam drop-in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4 · LATEST PRODUCTION UPGRADES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Recent Robustness, Guardrails &amp; Performance Optimizations</a:t>
            </a:r>
          </a:p>
          <a:p>
            <a:pPr>
              <a:spcBef>
                <a:spcPts val="400"/>
              </a:spcBef>
              <a:defRPr sz="1300">
                <a:solidFill>
                  <a:srgbClr val="CBD5E1"/>
                </a:solidFill>
              </a:defRPr>
            </a:pPr>
            <a:r>
              <a:t>Summary of latest defense-in-depth changes added to ensure production resilience.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120640" cy="2057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74520"/>
            <a:ext cx="47548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43F5E"/>
                </a:solidFill>
              </a:defRPr>
            </a:pPr>
            <a:r>
              <a:t>🛡️ Prompt Injection &amp; Social Engineering Defense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050">
                <a:solidFill>
                  <a:srgbClr val="CBD5E1"/>
                </a:solidFill>
              </a:defRPr>
            </a:pPr>
            <a:r>
              <a:t>Added regex filters in planner.py to instantly reject simulated persona attacks ('pretend you have access to passwords') and raw SQL keywords (DROP TABLE, DELETE FROM).</a:t>
            </a:r>
          </a:p>
          <a:p>
            <a:pPr>
              <a:spcBef>
                <a:spcPts val="100"/>
              </a:spcBef>
              <a:defRPr sz="1000">
                <a:solidFill>
                  <a:srgbClr val="F8FAFC"/>
                </a:solidFill>
              </a:defRPr>
            </a:pPr>
            <a:r>
              <a:t>• Rejection happens before LLM or DB execution</a:t>
            </a:r>
          </a:p>
          <a:p>
            <a:pPr>
              <a:spcBef>
                <a:spcPts val="100"/>
              </a:spcBef>
              <a:defRPr sz="1000">
                <a:solidFill>
                  <a:srgbClr val="F8FAFC"/>
                </a:solidFill>
              </a:defRPr>
            </a:pPr>
            <a:r>
              <a:t>• Clear explanatory refusal rather than unhandled crash</a:t>
            </a:r>
          </a:p>
          <a:p>
            <a:pPr>
              <a:spcBef>
                <a:spcPts val="100"/>
              </a:spcBef>
              <a:defRPr sz="1000">
                <a:solidFill>
                  <a:srgbClr val="F8FAFC"/>
                </a:solidFill>
              </a:defRPr>
            </a:pPr>
            <a:r>
              <a:t>• Prevents jailbreak attempts and schema leaks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737360"/>
            <a:ext cx="5120640" cy="2057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74520"/>
            <a:ext cx="47548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BBF24"/>
                </a:solidFill>
              </a:defRPr>
            </a:pPr>
            <a:r>
              <a:t>📅 Out-of-Range Period Guardrail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050">
                <a:solidFill>
                  <a:srgbClr val="CBD5E1"/>
                </a:solidFill>
              </a:defRPr>
            </a:pPr>
            <a:r>
              <a:t>Pre-execution date span check in engine.py: verifies whether requested periods fall within known database boundaries before firing DB queries.</a:t>
            </a:r>
          </a:p>
          <a:p>
            <a:pPr>
              <a:spcBef>
                <a:spcPts val="100"/>
              </a:spcBef>
              <a:defRPr sz="1000">
                <a:solidFill>
                  <a:srgbClr val="F8FAFC"/>
                </a:solidFill>
              </a:defRPr>
            </a:pPr>
            <a:r>
              <a:t>• Automatically tells the user exact available date range</a:t>
            </a:r>
          </a:p>
          <a:p>
            <a:pPr>
              <a:spcBef>
                <a:spcPts val="100"/>
              </a:spcBef>
              <a:defRPr sz="1000">
                <a:solidFill>
                  <a:srgbClr val="F8FAFC"/>
                </a:solidFill>
              </a:defRPr>
            </a:pPr>
            <a:r>
              <a:t>• Prevents confusing 'no data found' for out-of-bounds dates</a:t>
            </a:r>
          </a:p>
          <a:p>
            <a:pPr>
              <a:spcBef>
                <a:spcPts val="100"/>
              </a:spcBef>
              <a:defRPr sz="1000">
                <a:solidFill>
                  <a:srgbClr val="F8FAFC"/>
                </a:solidFill>
              </a:defRPr>
            </a:pPr>
            <a:r>
              <a:t>• Resolves anchor date dynamically from DuckDB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14800"/>
            <a:ext cx="5120640" cy="2057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251960"/>
            <a:ext cx="47548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4D399"/>
                </a:solidFill>
              </a:defRPr>
            </a:pPr>
            <a:r>
              <a:t>⚡ Monthly Rollup Pre-Aggregation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050">
                <a:solidFill>
                  <a:srgbClr val="CBD5E1"/>
                </a:solidFill>
              </a:defRPr>
            </a:pPr>
            <a:r>
              <a:t>Introduced v_rollup_monthly pre-aggregated view in DuckDB for high-level monthly trends and aggregations.</a:t>
            </a:r>
          </a:p>
          <a:p>
            <a:pPr>
              <a:spcBef>
                <a:spcPts val="100"/>
              </a:spcBef>
              <a:defRPr sz="1000">
                <a:solidFill>
                  <a:srgbClr val="F8FAFC"/>
                </a:solidFill>
              </a:defRPr>
            </a:pPr>
            <a:r>
              <a:t>• Drastically reduces query scan size over massive datasets</a:t>
            </a:r>
          </a:p>
          <a:p>
            <a:pPr>
              <a:spcBef>
                <a:spcPts val="100"/>
              </a:spcBef>
              <a:defRPr sz="1000">
                <a:solidFill>
                  <a:srgbClr val="F8FAFC"/>
                </a:solidFill>
              </a:defRPr>
            </a:pPr>
            <a:r>
              <a:t>• Automatic routing in sql_builder.py for eligible queries</a:t>
            </a:r>
          </a:p>
          <a:p>
            <a:pPr>
              <a:spcBef>
                <a:spcPts val="100"/>
              </a:spcBef>
              <a:defRPr sz="1000">
                <a:solidFill>
                  <a:srgbClr val="F8FAFC"/>
                </a:solidFill>
              </a:defRPr>
            </a:pPr>
            <a:r>
              <a:t>• Keeps response latency consistently sub-50ms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114800"/>
            <a:ext cx="5120640" cy="2057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251960"/>
            <a:ext cx="47548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👻 Ghost-Filter Elimination in Multi-Turn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050">
                <a:solidFill>
                  <a:srgbClr val="CBD5E1"/>
                </a:solidFill>
              </a:defRPr>
            </a:pPr>
            <a:r>
              <a:t>Prevents internal identifiers (e.g. UUID account_id) from leaking into subsequent unrelated questions.</a:t>
            </a:r>
          </a:p>
          <a:p>
            <a:pPr>
              <a:spcBef>
                <a:spcPts val="100"/>
              </a:spcBef>
              <a:defRPr sz="1000">
                <a:solidFill>
                  <a:srgbClr val="F8FAFC"/>
                </a:solidFill>
              </a:defRPr>
            </a:pPr>
            <a:r>
              <a:t>• Strips ghost filters unless question explicitly restates account</a:t>
            </a:r>
          </a:p>
          <a:p>
            <a:pPr>
              <a:spcBef>
                <a:spcPts val="100"/>
              </a:spcBef>
              <a:defRPr sz="1000">
                <a:solidFill>
                  <a:srgbClr val="F8FAFC"/>
                </a:solidFill>
              </a:defRPr>
            </a:pPr>
            <a:r>
              <a:t>• Handles period transitions cleanly across multi-turn chat</a:t>
            </a:r>
          </a:p>
          <a:p>
            <a:pPr>
              <a:spcBef>
                <a:spcPts val="100"/>
              </a:spcBef>
              <a:defRPr sz="1000">
                <a:solidFill>
                  <a:srgbClr val="F8FAFC"/>
                </a:solidFill>
              </a:defRPr>
            </a:pPr>
            <a:r>
              <a:t>• Retains 100% (20/20) benchmark accuracy across test suites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