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one-liner, do not read the slide.</a:t>
            </a:r>
          </a:p>
          <a:p/>
          <a:p>
            <a:r>
              <a:t>"Every team here will demo a chatbot that answers finance questions. The difference is what happens</a:t>
            </a:r>
          </a:p>
          <a:p>
            <a:r>
              <a:t>when it does not know. We spent our time on that."</a:t>
            </a:r>
          </a:p>
          <a:p/>
          <a:p>
            <a:r>
              <a:t>Keep this slide up for 15 seconds. Move.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 The audience already believes this - do not oversell it.</a:t>
            </a:r>
          </a:p>
          <a:p/>
          <a:p>
            <a:r>
              <a:t>The line that lands: "the answer already exists in the database. What is missing is access to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frames everything after it. Slow down.</a:t>
            </a:r>
          </a:p>
          <a:p/>
          <a:p>
            <a:r>
              <a:t>"A chatbot that is 95% right is a useful product. A finance assistant that is 95% right is a</a:t>
            </a:r>
          </a:p>
          <a:p>
            <a:r>
              <a:t>liability, because you cannot tell which 5% is wrong - and it looks exactly like the other 95%."</a:t>
            </a:r>
          </a:p>
          <a:p/>
          <a:p>
            <a:r>
              <a:t>Then: "so we did not build a chatbot with guardrails bolted on. We built a calculator that happens</a:t>
            </a:r>
          </a:p>
          <a:p>
            <a:r>
              <a:t>to speak English."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sentence is the bold one. Say it, then pause.</a:t>
            </a:r>
          </a:p>
          <a:p/>
          <a:p>
            <a:r>
              <a:t>"The model fills in a form. The form has ten fields: dataset, filters, grouping, period. None of</a:t>
            </a:r>
          </a:p>
          <a:p>
            <a:r>
              <a:t>them is a number. So when people ask how we stop it hallucinating a total - we did not stop it.</a:t>
            </a:r>
          </a:p>
          <a:p>
            <a:r>
              <a:t>We removed the place where it could write one."</a:t>
            </a:r>
          </a:p>
          <a:p/>
          <a:p>
            <a:r>
              <a:t>If asked why not text-to-SQL: free-form SQL from a small model is unverifiable. You cannot prove</a:t>
            </a:r>
          </a:p>
          <a:p>
            <a:r>
              <a:t>the query means what the user asked. A fixed plan schema is checkable field by field - and that is</a:t>
            </a:r>
          </a:p>
          <a:p>
            <a:r>
              <a:t>precisely what makes a 3B model sufficient.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Point at the two green rows in the middle and say:</a:t>
            </a:r>
          </a:p>
          <a:p/>
          <a:p>
            <a:r>
              <a:t>"Everything from here down is deterministic Python and SQL. The model is involved at the top and</a:t>
            </a:r>
          </a:p>
          <a:p>
            <a:r>
              <a:t>at the bottom - understanding the question, and phrasing the result. Never in between."</a:t>
            </a:r>
          </a:p>
          <a:p/>
          <a:p>
            <a:r>
              <a:t>Worth noting: the whitelist builder means SQL injection is not mitigated, it is structurally</a:t>
            </a:r>
          </a:p>
          <a:p>
            <a:r>
              <a:t>impossible. Identifiers come from a catalog, every literal is a bound parameter.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 fast on the five - one line each, they are self-explanatory.</a:t>
            </a:r>
          </a:p>
          <a:p/>
          <a:p>
            <a:r>
              <a:t>Spend the time on the amber box instead. "Two of our twenty benchmark questions are designed to be</a:t>
            </a:r>
          </a:p>
          <a:p>
            <a:r>
              <a:t>refused. Most teams will not have tested refusal at all, because it does not demo well. It is the</a:t>
            </a:r>
          </a:p>
          <a:p>
            <a:r>
              <a:t>only part of this we would stake our reputation 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because a sharp judge will ask "where did 'counterparty' come from? That is not</a:t>
            </a:r>
          </a:p>
          <a:p>
            <a:r>
              <a:t>in the schema you were given."</a:t>
            </a:r>
          </a:p>
          <a:p/>
          <a:p>
            <a:r>
              <a:t>Answer: "Correct. Neither is reconciliation. We had two options - drop half the brief, or derive</a:t>
            </a:r>
          </a:p>
          <a:p>
            <a:r>
              <a:t>them. We derived them from real columns, wrote the definition down once, and the assistant states</a:t>
            </a:r>
          </a:p>
          <a:p>
            <a:r>
              <a:t>that definition in every answer that depends on it. It is derived, documented and visible - not</a:t>
            </a:r>
          </a:p>
          <a:p>
            <a:r>
              <a:t>assumed."</a:t>
            </a:r>
          </a:p>
          <a:p/>
          <a:p>
            <a:r>
              <a:t>On the reference-vs-UTR question the schema doc raises: a bare "reference number" hits</a:t>
            </a:r>
          </a:p>
          <a:p>
            <a:r>
              <a:t>transaction_reference_id, the plaintext searchable column. UTR only decides reconciliation state.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schema doc calls out account_number and utr_number as sensitive and asks teams to decide how to</a:t>
            </a:r>
          </a:p>
          <a:p>
            <a:r>
              <a:t>handle them. This slide is our answer.</a:t>
            </a:r>
          </a:p>
          <a:p/>
          <a:p>
            <a:r>
              <a:t>The honest point to make is the amber box: "the planner refusal is the layer we trust least, because</a:t>
            </a:r>
          </a:p>
          <a:p>
            <a:r>
              <a:t>it depends on the model doing what it is told. It is there for good manners. The real protection is</a:t>
            </a:r>
          </a:p>
          <a:p>
            <a:r>
              <a:t>that the column does not exist as far as the SQL builder is concerned."</a:t>
            </a:r>
          </a:p>
          <a:p/>
          <a:p>
            <a:r>
              <a:t>On the reference-vs-UTR question the doc raises: a bare "reference number" resolves to</a:t>
            </a:r>
          </a:p>
          <a:p>
            <a:r>
              <a:t>transaction_reference_id, the plaintext searchable column. UTR is used only to derive reconciliation</a:t>
            </a:r>
          </a:p>
          <a:p>
            <a:r>
              <a:t>state. That decision is made once, in code, not per question.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the "lowest possible model" criterion is scored on. Do not rush it.</a:t>
            </a:r>
          </a:p>
          <a:p/>
          <a:p>
            <a:r>
              <a:t>"The brief says smallest model, highest accuracy. Most teams will answer that by picking a small</a:t>
            </a:r>
          </a:p>
          <a:p>
            <a:r>
              <a:t>model and hoping. We answered it by measuring what the model actually contributes - and the answer</a:t>
            </a:r>
          </a:p>
          <a:p>
            <a:r>
              <a:t>is that our zero-parameter tier already passes the benchmark."</a:t>
            </a:r>
          </a:p>
          <a:p/>
          <a:p>
            <a:r>
              <a:t>"So the 3B is not carrying the accuracy. It is carrying the language understanding. That is the</a:t>
            </a:r>
          </a:p>
          <a:p>
            <a:r>
              <a:t>only job we could not do deterministically, and it is a job a 3B model is genuinely good at."</a:t>
            </a:r>
          </a:p>
          <a:p/>
          <a:p>
            <a:r>
              <a:t>If the LLM tier number is below the rule tier, say so plainly and explain: the LLM tier handles</a:t>
            </a:r>
          </a:p>
          <a:p>
            <a:r>
              <a:t>phrasings the rules do not cover; the rule tier is the floor, not the ceiling.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"these are measured on a laptop this morning, not estimated."</a:t>
            </a:r>
          </a:p>
          <a:p/>
          <a:p>
            <a:r>
              <a:t>The number to emphasise is the last row of the table - accuracy is unchanged between 250 thousand</a:t>
            </a:r>
          </a:p>
          <a:p>
            <a:r>
              <a:t>and 20 million rows. Scale did not cost us correctness.</a:t>
            </a:r>
          </a:p>
          <a:p/>
          <a:p>
            <a:r>
              <a:t>If asked how: the queries are vectorised scans over two or three columns with a date predicate.</a:t>
            </a:r>
          </a:p>
          <a:p>
            <a:r>
              <a:t>The expensive part - parsing narrations - happens once at load, never per query. And we moved the</a:t>
            </a:r>
          </a:p>
          <a:p>
            <a:r>
              <a:t>top-N record sample off the answer path because profiling showed it was 80% of the latency.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THIS ON THE LAPTOP WHERE OLLAMA WORKS. Check before you start:</a:t>
            </a:r>
          </a:p>
          <a:p>
            <a:r>
              <a:t>  - ollama is serving, and the sidebar says "LLM planner + narrator" not "rule parser"</a:t>
            </a:r>
          </a:p>
          <a:p>
            <a:r>
              <a:t>  - data/finance.duckdb was rebuilt with the CURRENT code (the rollup table must exist)</a:t>
            </a:r>
          </a:p>
          <a:p>
            <a:r>
              <a:t>  - port 8000 is free</a:t>
            </a:r>
          </a:p>
          <a:p/>
          <a:p>
            <a:r>
              <a:t>Switch to the browser now. Do not talk over the demo.</a:t>
            </a:r>
          </a:p>
          <a:p/>
          <a:p>
            <a:r>
              <a:t>Moment 1: point at the confidence badge, the record count and the token counter. Then open the</a:t>
            </a:r>
          </a:p>
          <a:p>
            <a:r>
              <a:t>explain panel and scroll it slowly.</a:t>
            </a:r>
          </a:p>
          <a:p>
            <a:r>
              <a:t>Moment 4 is the one that wins this. Say out loud: "most demos avoid these two questions. This is</a:t>
            </a:r>
          </a:p>
          <a:p>
            <a:r>
              <a:t>the one we most want you to ask."</a:t>
            </a:r>
          </a:p>
          <a:p>
            <a:r>
              <a:t>Moment 5: drop to the terminal. The stubbed model claims 42 million. Watch it get rejected and the</a:t>
            </a:r>
          </a:p>
          <a:p>
            <a:r>
              <a:t>confidence drop to medium.</a:t>
            </a:r>
          </a:p>
          <a:p/>
          <a:p>
            <a:r>
              <a:t>If anything breaks: the sidebar shows whether the LLM is reachable. If it is not, say so and keep</a:t>
            </a:r>
          </a:p>
          <a:p>
            <a:r>
              <a:t>going - it still works. That is the strongest possible statement about where the accuracy lives.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audit line, not the cost line.</a:t>
            </a:r>
          </a:p>
          <a:p/>
          <a:p>
            <a:r>
              <a:t>"The reason this matters is not that it saves a finance analyst ten minutes. It is that every</a:t>
            </a:r>
          </a:p>
          <a:p>
            <a:r>
              <a:t>answer it gives can be reproduced from the plan and the SQL it shows you. That is the difference</a:t>
            </a:r>
          </a:p>
          <a:p>
            <a:r>
              <a:t>between a demo and something you would actually let near a reconciliation."</a:t>
            </a:r>
          </a:p>
          <a:p/>
          <a:p>
            <a:r>
              <a:t>Then stop talking.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 only show it if Q&amp;A goes long or you are asked something on this list.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920240"/>
            <a:ext cx="10515600" cy="914400"/>
          </a:xfrm>
          <a:prstGeom prst="rect">
            <a:avLst/>
          </a:prstGeom>
          <a:noFill/>
        </p:spPr>
        <p:txBody>
          <a:bodyPr wrap="square" anchor="t">
            <a:spAutoFit/>
          </a:bodyPr>
          <a:lstStyle/>
          <a:p>
            <a:pPr algn="l">
              <a:lnSpc>
                <a:spcPct val="125000"/>
              </a:lnSpc>
              <a:spcAft>
                <a:spcPts val="600"/>
              </a:spcAft>
            </a:pPr>
            <a:r>
              <a:rPr sz="5400" b="1">
                <a:solidFill>
                  <a:srgbClr val="E6EBF2"/>
                </a:solidFill>
                <a:latin typeface="Segoe UI"/>
              </a:rPr>
              <a:t>Finance Assistant</a:t>
            </a:r>
          </a:p>
        </p:txBody>
      </p:sp>
      <p:sp>
        <p:nvSpPr>
          <p:cNvPr id="4" name="TextBox 3"/>
          <p:cNvSpPr txBox="1"/>
          <p:nvPr/>
        </p:nvSpPr>
        <p:spPr>
          <a:xfrm>
            <a:off x="822960" y="2880360"/>
            <a:ext cx="10515600" cy="731520"/>
          </a:xfrm>
          <a:prstGeom prst="rect">
            <a:avLst/>
          </a:prstGeom>
          <a:noFill/>
        </p:spPr>
        <p:txBody>
          <a:bodyPr wrap="square" anchor="t">
            <a:spAutoFit/>
          </a:bodyPr>
          <a:lstStyle/>
          <a:p>
            <a:pPr algn="l">
              <a:lnSpc>
                <a:spcPct val="125000"/>
              </a:lnSpc>
              <a:spcAft>
                <a:spcPts val="600"/>
              </a:spcAft>
            </a:pPr>
            <a:r>
              <a:rPr sz="2200" b="0">
                <a:solidFill>
                  <a:srgbClr val="4ADE80"/>
                </a:solidFill>
                <a:latin typeface="Segoe UI"/>
              </a:rPr>
              <a:t>Ask your ledger a question. Get an answer you can audit.</a:t>
            </a:r>
          </a:p>
        </p:txBody>
      </p:sp>
      <p:sp>
        <p:nvSpPr>
          <p:cNvPr id="5" name="TextBox 4"/>
          <p:cNvSpPr txBox="1"/>
          <p:nvPr/>
        </p:nvSpPr>
        <p:spPr>
          <a:xfrm>
            <a:off x="822960" y="3749039"/>
            <a:ext cx="10515600" cy="1097280"/>
          </a:xfrm>
          <a:prstGeom prst="rect">
            <a:avLst/>
          </a:prstGeom>
          <a:noFill/>
        </p:spPr>
        <p:txBody>
          <a:bodyPr wrap="square" anchor="t">
            <a:spAutoFit/>
          </a:bodyPr>
          <a:lstStyle/>
          <a:p>
            <a:pPr algn="l">
              <a:lnSpc>
                <a:spcPct val="140000"/>
              </a:lnSpc>
              <a:spcAft>
                <a:spcPts val="600"/>
              </a:spcAft>
            </a:pPr>
            <a:r>
              <a:rPr sz="1700" b="0">
                <a:solidFill>
                  <a:srgbClr val="8B96A8"/>
                </a:solidFill>
                <a:latin typeface="Segoe UI"/>
              </a:rPr>
              <a:t>The language model reads and writes English.
SQL does the arithmetic. A verifier checks every digit.</a:t>
            </a:r>
          </a:p>
        </p:txBody>
      </p:sp>
      <p:sp>
        <p:nvSpPr>
          <p:cNvPr id="6" name="TextBox 5"/>
          <p:cNvSpPr txBox="1"/>
          <p:nvPr/>
        </p:nvSpPr>
        <p:spPr>
          <a:xfrm>
            <a:off x="822960" y="5852160"/>
            <a:ext cx="10515600" cy="365760"/>
          </a:xfrm>
          <a:prstGeom prst="rect">
            <a:avLst/>
          </a:prstGeom>
          <a:noFill/>
        </p:spPr>
        <p:txBody>
          <a:bodyPr wrap="square" anchor="t">
            <a:spAutoFit/>
          </a:bodyPr>
          <a:lstStyle/>
          <a:p>
            <a:pPr algn="l">
              <a:lnSpc>
                <a:spcPct val="125000"/>
              </a:lnSpc>
              <a:spcAft>
                <a:spcPts val="600"/>
              </a:spcAft>
            </a:pPr>
            <a:r>
              <a:rPr sz="1300" b="0">
                <a:solidFill>
                  <a:srgbClr val="8B96A8"/>
                </a:solidFill>
                <a:latin typeface="Segoe UI"/>
              </a:rPr>
              <a:t>3 B parameter model  ·  20 B cap  ·  20,000,000 records  ·  every answer traceable to SQL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058400" cy="365760"/>
          </a:xfrm>
          <a:prstGeom prst="rect">
            <a:avLst/>
          </a:prstGeom>
          <a:noFill/>
        </p:spPr>
        <p:txBody>
          <a:bodyPr wrap="square" anchor="t">
            <a:spAutoFit/>
          </a:bodyPr>
          <a:lstStyle/>
          <a:p>
            <a:pPr algn="l">
              <a:lnSpc>
                <a:spcPct val="125000"/>
              </a:lnSpc>
              <a:spcAft>
                <a:spcPts val="600"/>
              </a:spcAft>
            </a:pPr>
            <a:r>
              <a:rPr sz="1200" b="1">
                <a:solidFill>
                  <a:srgbClr val="4ADE80"/>
                </a:solidFill>
                <a:latin typeface="Segoe UI"/>
              </a:rPr>
              <a:t>THE PROBLEM</a:t>
            </a:r>
          </a:p>
        </p:txBody>
      </p:sp>
      <p:sp>
        <p:nvSpPr>
          <p:cNvPr id="4" name="TextBox 3"/>
          <p:cNvSpPr txBox="1"/>
          <p:nvPr/>
        </p:nvSpPr>
        <p:spPr>
          <a:xfrm>
            <a:off x="822960" y="914400"/>
            <a:ext cx="10515600" cy="914400"/>
          </a:xfrm>
          <a:prstGeom prst="rect">
            <a:avLst/>
          </a:prstGeom>
          <a:noFill/>
        </p:spPr>
        <p:txBody>
          <a:bodyPr wrap="square" anchor="t">
            <a:spAutoFit/>
          </a:bodyPr>
          <a:lstStyle/>
          <a:p>
            <a:pPr algn="l">
              <a:lnSpc>
                <a:spcPct val="125000"/>
              </a:lnSpc>
              <a:spcAft>
                <a:spcPts val="600"/>
              </a:spcAft>
            </a:pPr>
            <a:r>
              <a:rPr sz="3600" b="1">
                <a:solidFill>
                  <a:srgbClr val="E6EBF2"/>
                </a:solidFill>
                <a:latin typeface="Segoe UI"/>
              </a:rPr>
              <a:t>Simple questions take hours, not seconds</a:t>
            </a:r>
          </a:p>
        </p:txBody>
      </p:sp>
      <p:sp>
        <p:nvSpPr>
          <p:cNvPr id="5" name="TextBox 4"/>
          <p:cNvSpPr txBox="1"/>
          <p:nvPr/>
        </p:nvSpPr>
        <p:spPr>
          <a:xfrm>
            <a:off x="822960" y="1783080"/>
            <a:ext cx="10515600" cy="548640"/>
          </a:xfrm>
          <a:prstGeom prst="rect">
            <a:avLst/>
          </a:prstGeom>
          <a:noFill/>
        </p:spPr>
        <p:txBody>
          <a:bodyPr wrap="square" anchor="t">
            <a:spAutoFit/>
          </a:bodyPr>
          <a:lstStyle/>
          <a:p>
            <a:pPr algn="l">
              <a:lnSpc>
                <a:spcPct val="125000"/>
              </a:lnSpc>
              <a:spcAft>
                <a:spcPts val="600"/>
              </a:spcAft>
            </a:pPr>
            <a:r>
              <a:rPr sz="1700" b="0">
                <a:solidFill>
                  <a:srgbClr val="8B96A8"/>
                </a:solidFill>
                <a:latin typeface="Segoe UI"/>
              </a:rPr>
              <a:t>Finance ops fields the same lookups on repeat, and nobody else can self-serve.</a:t>
            </a:r>
          </a:p>
        </p:txBody>
      </p:sp>
      <p:sp>
        <p:nvSpPr>
          <p:cNvPr id="6" name="TextBox 5"/>
          <p:cNvSpPr txBox="1"/>
          <p:nvPr/>
        </p:nvSpPr>
        <p:spPr>
          <a:xfrm>
            <a:off x="822960" y="2468880"/>
            <a:ext cx="10515600" cy="502920"/>
          </a:xfrm>
          <a:prstGeom prst="rect">
            <a:avLst/>
          </a:prstGeom>
          <a:noFill/>
        </p:spPr>
        <p:txBody>
          <a:bodyPr wrap="square">
            <a:spAutoFit/>
          </a:bodyPr>
          <a:lstStyle/>
          <a:p>
            <a:r>
              <a:rPr sz="1700">
                <a:solidFill>
                  <a:srgbClr val="4ADE80"/>
                </a:solidFill>
                <a:latin typeface="Segoe UI"/>
              </a:rPr>
              <a:t>—  </a:t>
            </a:r>
            <a:r>
              <a:rPr b="1" sz="1700">
                <a:solidFill>
                  <a:srgbClr val="E6EBF2"/>
                </a:solidFill>
                <a:latin typeface="Segoe UI"/>
              </a:rPr>
              <a:t>Dashboards answer the question they were built for.  </a:t>
            </a:r>
            <a:r>
              <a:rPr sz="1700">
                <a:solidFill>
                  <a:srgbClr val="8B96A8"/>
                </a:solidFill>
                <a:latin typeface="Segoe UI"/>
              </a:rPr>
              <a:t>Anything else needs a ticket.</a:t>
            </a:r>
          </a:p>
        </p:txBody>
      </p:sp>
      <p:sp>
        <p:nvSpPr>
          <p:cNvPr id="7" name="TextBox 6"/>
          <p:cNvSpPr txBox="1"/>
          <p:nvPr/>
        </p:nvSpPr>
        <p:spPr>
          <a:xfrm>
            <a:off x="822960" y="3035808"/>
            <a:ext cx="10515600" cy="502920"/>
          </a:xfrm>
          <a:prstGeom prst="rect">
            <a:avLst/>
          </a:prstGeom>
          <a:noFill/>
        </p:spPr>
        <p:txBody>
          <a:bodyPr wrap="square">
            <a:spAutoFit/>
          </a:bodyPr>
          <a:lstStyle/>
          <a:p>
            <a:r>
              <a:rPr sz="1700">
                <a:solidFill>
                  <a:srgbClr val="4ADE80"/>
                </a:solidFill>
                <a:latin typeface="Segoe UI"/>
              </a:rPr>
              <a:t>—  </a:t>
            </a:r>
            <a:r>
              <a:rPr b="1" sz="1700">
                <a:solidFill>
                  <a:srgbClr val="E6EBF2"/>
                </a:solidFill>
                <a:latin typeface="Segoe UI"/>
              </a:rPr>
              <a:t>You must know the vocabulary before you can ask.  </a:t>
            </a:r>
            <a:r>
              <a:rPr sz="1700">
                <a:solidFill>
                  <a:srgbClr val="8B96A8"/>
                </a:solidFill>
                <a:latin typeface="Segoe UI"/>
              </a:rPr>
              <a:t>Which report? Which field? Which filter?</a:t>
            </a:r>
          </a:p>
        </p:txBody>
      </p:sp>
      <p:sp>
        <p:nvSpPr>
          <p:cNvPr id="8" name="TextBox 7"/>
          <p:cNvSpPr txBox="1"/>
          <p:nvPr/>
        </p:nvSpPr>
        <p:spPr>
          <a:xfrm>
            <a:off x="822960" y="3602736"/>
            <a:ext cx="10515600" cy="502920"/>
          </a:xfrm>
          <a:prstGeom prst="rect">
            <a:avLst/>
          </a:prstGeom>
          <a:noFill/>
        </p:spPr>
        <p:txBody>
          <a:bodyPr wrap="square">
            <a:spAutoFit/>
          </a:bodyPr>
          <a:lstStyle/>
          <a:p>
            <a:r>
              <a:rPr sz="1700">
                <a:solidFill>
                  <a:srgbClr val="4ADE80"/>
                </a:solidFill>
                <a:latin typeface="Segoe UI"/>
              </a:rPr>
              <a:t>—  </a:t>
            </a:r>
            <a:r>
              <a:rPr b="1" sz="1700">
                <a:solidFill>
                  <a:srgbClr val="E6EBF2"/>
                </a:solidFill>
                <a:latin typeface="Segoe UI"/>
              </a:rPr>
              <a:t>Finance ops becomes a query service desk.  </a:t>
            </a:r>
            <a:r>
              <a:rPr sz="1700">
                <a:solidFill>
                  <a:srgbClr val="8B96A8"/>
                </a:solidFill>
                <a:latin typeface="Segoe UI"/>
              </a:rPr>
              <a:t>High-value people running lookups.</a:t>
            </a:r>
          </a:p>
        </p:txBody>
      </p:sp>
      <p:sp>
        <p:nvSpPr>
          <p:cNvPr id="9" name="TextBox 8"/>
          <p:cNvSpPr txBox="1"/>
          <p:nvPr/>
        </p:nvSpPr>
        <p:spPr>
          <a:xfrm>
            <a:off x="822960" y="4169664"/>
            <a:ext cx="10515600" cy="502920"/>
          </a:xfrm>
          <a:prstGeom prst="rect">
            <a:avLst/>
          </a:prstGeom>
          <a:noFill/>
        </p:spPr>
        <p:txBody>
          <a:bodyPr wrap="square">
            <a:spAutoFit/>
          </a:bodyPr>
          <a:lstStyle/>
          <a:p>
            <a:r>
              <a:rPr sz="1700">
                <a:solidFill>
                  <a:srgbClr val="4ADE80"/>
                </a:solidFill>
                <a:latin typeface="Segoe UI"/>
              </a:rPr>
              <a:t>—  </a:t>
            </a:r>
            <a:r>
              <a:rPr b="1" sz="1700">
                <a:solidFill>
                  <a:srgbClr val="E6EBF2"/>
                </a:solidFill>
                <a:latin typeface="Segoe UI"/>
              </a:rPr>
              <a:t>Decisions wait on a queue.  </a:t>
            </a:r>
            <a:r>
              <a:rPr sz="1700">
                <a:solidFill>
                  <a:srgbClr val="8B96A8"/>
                </a:solidFill>
                <a:latin typeface="Segoe UI"/>
              </a:rPr>
              <a:t>The answer exists; access to it does not.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058400" cy="365760"/>
          </a:xfrm>
          <a:prstGeom prst="rect">
            <a:avLst/>
          </a:prstGeom>
          <a:noFill/>
        </p:spPr>
        <p:txBody>
          <a:bodyPr wrap="square" anchor="t">
            <a:spAutoFit/>
          </a:bodyPr>
          <a:lstStyle/>
          <a:p>
            <a:pPr algn="l">
              <a:lnSpc>
                <a:spcPct val="125000"/>
              </a:lnSpc>
              <a:spcAft>
                <a:spcPts val="600"/>
              </a:spcAft>
            </a:pPr>
            <a:r>
              <a:rPr sz="1200" b="1">
                <a:solidFill>
                  <a:srgbClr val="4ADE80"/>
                </a:solidFill>
                <a:latin typeface="Segoe UI"/>
              </a:rPr>
              <a:t>WHY THIS IS DIFFERENT</a:t>
            </a:r>
          </a:p>
        </p:txBody>
      </p:sp>
      <p:sp>
        <p:nvSpPr>
          <p:cNvPr id="4" name="TextBox 3"/>
          <p:cNvSpPr txBox="1"/>
          <p:nvPr/>
        </p:nvSpPr>
        <p:spPr>
          <a:xfrm>
            <a:off x="822960" y="914400"/>
            <a:ext cx="10515600" cy="914400"/>
          </a:xfrm>
          <a:prstGeom prst="rect">
            <a:avLst/>
          </a:prstGeom>
          <a:noFill/>
        </p:spPr>
        <p:txBody>
          <a:bodyPr wrap="square" anchor="t">
            <a:spAutoFit/>
          </a:bodyPr>
          <a:lstStyle/>
          <a:p>
            <a:pPr algn="l">
              <a:lnSpc>
                <a:spcPct val="125000"/>
              </a:lnSpc>
              <a:spcAft>
                <a:spcPts val="600"/>
              </a:spcAft>
            </a:pPr>
            <a:r>
              <a:rPr sz="3600" b="1">
                <a:solidFill>
                  <a:srgbClr val="E6EBF2"/>
                </a:solidFill>
                <a:latin typeface="Segoe UI"/>
              </a:rPr>
              <a:t>A wrong number here is a liability, not a bug</a:t>
            </a:r>
          </a:p>
        </p:txBody>
      </p:sp>
      <p:sp>
        <p:nvSpPr>
          <p:cNvPr id="5" name="TextBox 4"/>
          <p:cNvSpPr txBox="1"/>
          <p:nvPr/>
        </p:nvSpPr>
        <p:spPr>
          <a:xfrm>
            <a:off x="822960" y="1783080"/>
            <a:ext cx="10515600" cy="548640"/>
          </a:xfrm>
          <a:prstGeom prst="rect">
            <a:avLst/>
          </a:prstGeom>
          <a:noFill/>
        </p:spPr>
        <p:txBody>
          <a:bodyPr wrap="square" anchor="t">
            <a:spAutoFit/>
          </a:bodyPr>
          <a:lstStyle/>
          <a:p>
            <a:pPr algn="l">
              <a:lnSpc>
                <a:spcPct val="125000"/>
              </a:lnSpc>
              <a:spcAft>
                <a:spcPts val="600"/>
              </a:spcAft>
            </a:pPr>
            <a:r>
              <a:rPr sz="1700" b="0">
                <a:solidFill>
                  <a:srgbClr val="8B96A8"/>
                </a:solidFill>
                <a:latin typeface="Segoe UI"/>
              </a:rPr>
              <a:t>In finance, "mostly right" is a failing grade. That single fact drove every design decision.</a:t>
            </a:r>
          </a:p>
        </p:txBody>
      </p:sp>
      <p:sp>
        <p:nvSpPr>
          <p:cNvPr id="6" name="Rectangle 5"/>
          <p:cNvSpPr/>
          <p:nvPr/>
        </p:nvSpPr>
        <p:spPr>
          <a:xfrm>
            <a:off x="822960" y="2743200"/>
            <a:ext cx="3291840" cy="2377440"/>
          </a:xfrm>
          <a:prstGeom prst="rect">
            <a:avLst/>
          </a:prstGeom>
          <a:solidFill>
            <a:srgbClr val="161B25"/>
          </a:solidFill>
          <a:ln w="12700">
            <a:solidFill>
              <a:srgbClr val="262E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743200"/>
            <a:ext cx="45720" cy="237744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944368"/>
            <a:ext cx="2834640" cy="365760"/>
          </a:xfrm>
          <a:prstGeom prst="rect">
            <a:avLst/>
          </a:prstGeom>
          <a:noFill/>
        </p:spPr>
        <p:txBody>
          <a:bodyPr wrap="square" anchor="t">
            <a:spAutoFit/>
          </a:bodyPr>
          <a:lstStyle/>
          <a:p>
            <a:pPr algn="l">
              <a:lnSpc>
                <a:spcPct val="125000"/>
              </a:lnSpc>
              <a:spcAft>
                <a:spcPts val="600"/>
              </a:spcAft>
            </a:pPr>
            <a:r>
              <a:rPr sz="1500" b="1">
                <a:solidFill>
                  <a:srgbClr val="E6EBF2"/>
                </a:solidFill>
                <a:latin typeface="Segoe UI"/>
              </a:rPr>
              <a:t>A plausible number</a:t>
            </a:r>
          </a:p>
        </p:txBody>
      </p:sp>
      <p:sp>
        <p:nvSpPr>
          <p:cNvPr id="9" name="TextBox 8"/>
          <p:cNvSpPr txBox="1"/>
          <p:nvPr/>
        </p:nvSpPr>
        <p:spPr>
          <a:xfrm>
            <a:off x="1097280" y="3401568"/>
            <a:ext cx="2834640" cy="1554480"/>
          </a:xfrm>
          <a:prstGeom prst="rect">
            <a:avLst/>
          </a:prstGeom>
          <a:noFill/>
        </p:spPr>
        <p:txBody>
          <a:bodyPr wrap="square" anchor="t">
            <a:spAutoFit/>
          </a:bodyPr>
          <a:lstStyle/>
          <a:p>
            <a:pPr algn="l">
              <a:lnSpc>
                <a:spcPct val="125000"/>
              </a:lnSpc>
              <a:spcAft>
                <a:spcPts val="600"/>
              </a:spcAft>
            </a:pPr>
            <a:r>
              <a:rPr sz="1250" b="0">
                <a:solidFill>
                  <a:srgbClr val="8B96A8"/>
                </a:solidFill>
                <a:latin typeface="Segoe UI"/>
              </a:rPr>
              <a:t>An LLM will happily produce a total that looks exactly like a real one. Nothing about the output signals that it was invented.</a:t>
            </a:r>
          </a:p>
        </p:txBody>
      </p:sp>
      <p:sp>
        <p:nvSpPr>
          <p:cNvPr id="10" name="Rectangle 9"/>
          <p:cNvSpPr/>
          <p:nvPr/>
        </p:nvSpPr>
        <p:spPr>
          <a:xfrm>
            <a:off x="4343400" y="2743200"/>
            <a:ext cx="3291840" cy="2377440"/>
          </a:xfrm>
          <a:prstGeom prst="rect">
            <a:avLst/>
          </a:prstGeom>
          <a:solidFill>
            <a:srgbClr val="161B25"/>
          </a:solidFill>
          <a:ln w="12700">
            <a:solidFill>
              <a:srgbClr val="262E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2743200"/>
            <a:ext cx="45720" cy="2377440"/>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2944368"/>
            <a:ext cx="2834640" cy="365760"/>
          </a:xfrm>
          <a:prstGeom prst="rect">
            <a:avLst/>
          </a:prstGeom>
          <a:noFill/>
        </p:spPr>
        <p:txBody>
          <a:bodyPr wrap="square" anchor="t">
            <a:spAutoFit/>
          </a:bodyPr>
          <a:lstStyle/>
          <a:p>
            <a:pPr algn="l">
              <a:lnSpc>
                <a:spcPct val="125000"/>
              </a:lnSpc>
              <a:spcAft>
                <a:spcPts val="600"/>
              </a:spcAft>
            </a:pPr>
            <a:r>
              <a:rPr sz="1500" b="1">
                <a:solidFill>
                  <a:srgbClr val="E6EBF2"/>
                </a:solidFill>
                <a:latin typeface="Segoe UI"/>
              </a:rPr>
              <a:t>Corrupts what it touches</a:t>
            </a:r>
          </a:p>
        </p:txBody>
      </p:sp>
      <p:sp>
        <p:nvSpPr>
          <p:cNvPr id="13" name="TextBox 12"/>
          <p:cNvSpPr txBox="1"/>
          <p:nvPr/>
        </p:nvSpPr>
        <p:spPr>
          <a:xfrm>
            <a:off x="4617720" y="3401568"/>
            <a:ext cx="2834640" cy="1554480"/>
          </a:xfrm>
          <a:prstGeom prst="rect">
            <a:avLst/>
          </a:prstGeom>
          <a:noFill/>
        </p:spPr>
        <p:txBody>
          <a:bodyPr wrap="square" anchor="t">
            <a:spAutoFit/>
          </a:bodyPr>
          <a:lstStyle/>
          <a:p>
            <a:pPr algn="l">
              <a:lnSpc>
                <a:spcPct val="125000"/>
              </a:lnSpc>
              <a:spcAft>
                <a:spcPts val="600"/>
              </a:spcAft>
            </a:pPr>
            <a:r>
              <a:rPr sz="1250" b="0">
                <a:solidFill>
                  <a:srgbClr val="8B96A8"/>
                </a:solidFill>
                <a:latin typeface="Segoe UI"/>
              </a:rPr>
              <a:t>It flows into reconciliation, audit trails and board reporting before anyone checks it.</a:t>
            </a:r>
          </a:p>
        </p:txBody>
      </p:sp>
      <p:sp>
        <p:nvSpPr>
          <p:cNvPr id="14" name="Rectangle 13"/>
          <p:cNvSpPr/>
          <p:nvPr/>
        </p:nvSpPr>
        <p:spPr>
          <a:xfrm>
            <a:off x="7863840" y="2743200"/>
            <a:ext cx="3291840" cy="2377440"/>
          </a:xfrm>
          <a:prstGeom prst="rect">
            <a:avLst/>
          </a:prstGeom>
          <a:solidFill>
            <a:srgbClr val="161B25"/>
          </a:solidFill>
          <a:ln w="12700">
            <a:solidFill>
              <a:srgbClr val="262E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863840" y="2743200"/>
            <a:ext cx="45720" cy="2377440"/>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38160" y="2944368"/>
            <a:ext cx="2834640" cy="365760"/>
          </a:xfrm>
          <a:prstGeom prst="rect">
            <a:avLst/>
          </a:prstGeom>
          <a:noFill/>
        </p:spPr>
        <p:txBody>
          <a:bodyPr wrap="square" anchor="t">
            <a:spAutoFit/>
          </a:bodyPr>
          <a:lstStyle/>
          <a:p>
            <a:pPr algn="l">
              <a:lnSpc>
                <a:spcPct val="125000"/>
              </a:lnSpc>
              <a:spcAft>
                <a:spcPts val="600"/>
              </a:spcAft>
            </a:pPr>
            <a:r>
              <a:rPr sz="1500" b="1">
                <a:solidFill>
                  <a:srgbClr val="E6EBF2"/>
                </a:solidFill>
                <a:latin typeface="Segoe UI"/>
              </a:rPr>
              <a:t>Destroys trust permanently</a:t>
            </a:r>
          </a:p>
        </p:txBody>
      </p:sp>
      <p:sp>
        <p:nvSpPr>
          <p:cNvPr id="17" name="TextBox 16"/>
          <p:cNvSpPr txBox="1"/>
          <p:nvPr/>
        </p:nvSpPr>
        <p:spPr>
          <a:xfrm>
            <a:off x="8138160" y="3401568"/>
            <a:ext cx="2834640" cy="1554480"/>
          </a:xfrm>
          <a:prstGeom prst="rect">
            <a:avLst/>
          </a:prstGeom>
          <a:noFill/>
        </p:spPr>
        <p:txBody>
          <a:bodyPr wrap="square" anchor="t">
            <a:spAutoFit/>
          </a:bodyPr>
          <a:lstStyle/>
          <a:p>
            <a:pPr algn="l">
              <a:lnSpc>
                <a:spcPct val="125000"/>
              </a:lnSpc>
              <a:spcAft>
                <a:spcPts val="600"/>
              </a:spcAft>
            </a:pPr>
            <a:r>
              <a:rPr sz="1250" b="0">
                <a:solidFill>
                  <a:srgbClr val="8B96A8"/>
                </a:solidFill>
                <a:latin typeface="Segoe UI"/>
              </a:rPr>
              <a:t>One fabricated figure and the assistant is never used again. Correctness is the product.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058400" cy="365760"/>
          </a:xfrm>
          <a:prstGeom prst="rect">
            <a:avLst/>
          </a:prstGeom>
          <a:noFill/>
        </p:spPr>
        <p:txBody>
          <a:bodyPr wrap="square" anchor="t">
            <a:spAutoFit/>
          </a:bodyPr>
          <a:lstStyle/>
          <a:p>
            <a:pPr algn="l">
              <a:lnSpc>
                <a:spcPct val="125000"/>
              </a:lnSpc>
              <a:spcAft>
                <a:spcPts val="600"/>
              </a:spcAft>
            </a:pPr>
            <a:r>
              <a:rPr sz="1200" b="1">
                <a:solidFill>
                  <a:srgbClr val="4ADE80"/>
                </a:solidFill>
                <a:latin typeface="Segoe UI"/>
              </a:rPr>
              <a:t>OUR APPROACH</a:t>
            </a:r>
          </a:p>
        </p:txBody>
      </p:sp>
      <p:sp>
        <p:nvSpPr>
          <p:cNvPr id="4" name="TextBox 3"/>
          <p:cNvSpPr txBox="1"/>
          <p:nvPr/>
        </p:nvSpPr>
        <p:spPr>
          <a:xfrm>
            <a:off x="822960" y="914400"/>
            <a:ext cx="10515600" cy="914400"/>
          </a:xfrm>
          <a:prstGeom prst="rect">
            <a:avLst/>
          </a:prstGeom>
          <a:noFill/>
        </p:spPr>
        <p:txBody>
          <a:bodyPr wrap="square" anchor="t">
            <a:spAutoFit/>
          </a:bodyPr>
          <a:lstStyle/>
          <a:p>
            <a:pPr algn="l">
              <a:lnSpc>
                <a:spcPct val="125000"/>
              </a:lnSpc>
              <a:spcAft>
                <a:spcPts val="600"/>
              </a:spcAft>
            </a:pPr>
            <a:r>
              <a:rPr sz="3600" b="1">
                <a:solidFill>
                  <a:srgbClr val="E6EBF2"/>
                </a:solidFill>
                <a:latin typeface="Segoe UI"/>
              </a:rPr>
              <a:t>Ask the model to do only what models are good at</a:t>
            </a:r>
          </a:p>
        </p:txBody>
      </p:sp>
      <p:sp>
        <p:nvSpPr>
          <p:cNvPr id="5" name="TextBox 4"/>
          <p:cNvSpPr txBox="1"/>
          <p:nvPr/>
        </p:nvSpPr>
        <p:spPr>
          <a:xfrm>
            <a:off x="822960" y="1783080"/>
            <a:ext cx="10515600" cy="548640"/>
          </a:xfrm>
          <a:prstGeom prst="rect">
            <a:avLst/>
          </a:prstGeom>
          <a:noFill/>
        </p:spPr>
        <p:txBody>
          <a:bodyPr wrap="square" anchor="t">
            <a:spAutoFit/>
          </a:bodyPr>
          <a:lstStyle/>
          <a:p>
            <a:pPr algn="l">
              <a:lnSpc>
                <a:spcPct val="125000"/>
              </a:lnSpc>
              <a:spcAft>
                <a:spcPts val="600"/>
              </a:spcAft>
            </a:pPr>
            <a:r>
              <a:rPr sz="1700" b="0">
                <a:solidFill>
                  <a:srgbClr val="8B96A8"/>
                </a:solidFill>
                <a:latin typeface="Segoe UI"/>
              </a:rPr>
              <a:t>It never sees a number, never writes SQL, never does arithmetic.</a:t>
            </a:r>
          </a:p>
        </p:txBody>
      </p:sp>
      <p:sp>
        <p:nvSpPr>
          <p:cNvPr id="6" name="Rounded Rectangle 5"/>
          <p:cNvSpPr/>
          <p:nvPr/>
        </p:nvSpPr>
        <p:spPr>
          <a:xfrm>
            <a:off x="822960" y="2743200"/>
            <a:ext cx="1615440" cy="777240"/>
          </a:xfrm>
          <a:prstGeom prst="roundRect">
            <a:avLst/>
          </a:prstGeom>
          <a:solidFill>
            <a:srgbClr val="161B25"/>
          </a:solidFill>
          <a:ln w="15875">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0A5FA"/>
                </a:solidFill>
                <a:latin typeface="Segoe UI"/>
              </a:rPr>
              <a:t>Question</a:t>
            </a:r>
          </a:p>
          <a:p>
            <a:pPr algn="ctr"/>
            <a:r>
              <a:rPr sz="1000">
                <a:solidFill>
                  <a:srgbClr val="8B96A8"/>
                </a:solidFill>
                <a:latin typeface="Segoe UI"/>
              </a:rPr>
              <a:t>plain language</a:t>
            </a:r>
          </a:p>
        </p:txBody>
      </p:sp>
      <p:sp>
        <p:nvSpPr>
          <p:cNvPr id="7" name="Rounded Rectangle 6"/>
          <p:cNvSpPr/>
          <p:nvPr/>
        </p:nvSpPr>
        <p:spPr>
          <a:xfrm>
            <a:off x="2602992" y="2743200"/>
            <a:ext cx="1615440" cy="777240"/>
          </a:xfrm>
          <a:prstGeom prst="roundRect">
            <a:avLst/>
          </a:prstGeom>
          <a:solidFill>
            <a:srgbClr val="161B25"/>
          </a:solidFill>
          <a:ln w="15875">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0A5FA"/>
                </a:solidFill>
                <a:latin typeface="Segoe UI"/>
              </a:rPr>
              <a:t>Query plan</a:t>
            </a:r>
          </a:p>
          <a:p>
            <a:pPr algn="ctr"/>
            <a:r>
              <a:rPr sz="1000">
                <a:solidFill>
                  <a:srgbClr val="8B96A8"/>
                </a:solidFill>
                <a:latin typeface="Segoe UI"/>
              </a:rPr>
              <a:t>3B model, JSON only</a:t>
            </a:r>
          </a:p>
        </p:txBody>
      </p:sp>
      <p:sp>
        <p:nvSpPr>
          <p:cNvPr id="8" name="Rounded Rectangle 7"/>
          <p:cNvSpPr/>
          <p:nvPr/>
        </p:nvSpPr>
        <p:spPr>
          <a:xfrm>
            <a:off x="4383024" y="2743200"/>
            <a:ext cx="1615440" cy="777240"/>
          </a:xfrm>
          <a:prstGeom prst="roundRect">
            <a:avLst/>
          </a:prstGeom>
          <a:solidFill>
            <a:srgbClr val="161B25"/>
          </a:solidFill>
          <a:ln w="15875">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4ADE80"/>
                </a:solidFill>
                <a:latin typeface="Segoe UI"/>
              </a:rPr>
              <a:t>Validate</a:t>
            </a:r>
          </a:p>
          <a:p>
            <a:pPr algn="ctr"/>
            <a:r>
              <a:rPr sz="1000">
                <a:solidFill>
                  <a:srgbClr val="8B96A8"/>
                </a:solidFill>
                <a:latin typeface="Segoe UI"/>
              </a:rPr>
              <a:t>whitelist schema</a:t>
            </a:r>
          </a:p>
        </p:txBody>
      </p:sp>
      <p:sp>
        <p:nvSpPr>
          <p:cNvPr id="9" name="Rounded Rectangle 8"/>
          <p:cNvSpPr/>
          <p:nvPr/>
        </p:nvSpPr>
        <p:spPr>
          <a:xfrm>
            <a:off x="6163056" y="2743200"/>
            <a:ext cx="1615440" cy="777240"/>
          </a:xfrm>
          <a:prstGeom prst="roundRect">
            <a:avLst/>
          </a:prstGeom>
          <a:solidFill>
            <a:srgbClr val="161B25"/>
          </a:solidFill>
          <a:ln w="15875">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4ADE80"/>
                </a:solidFill>
                <a:latin typeface="Segoe UI"/>
              </a:rPr>
              <a:t>SQL</a:t>
            </a:r>
          </a:p>
          <a:p>
            <a:pPr algn="ctr"/>
            <a:r>
              <a:rPr sz="1000">
                <a:solidFill>
                  <a:srgbClr val="8B96A8"/>
                </a:solidFill>
                <a:latin typeface="Segoe UI"/>
              </a:rPr>
              <a:t>built in Python</a:t>
            </a:r>
          </a:p>
        </p:txBody>
      </p:sp>
      <p:sp>
        <p:nvSpPr>
          <p:cNvPr id="10" name="Rounded Rectangle 9"/>
          <p:cNvSpPr/>
          <p:nvPr/>
        </p:nvSpPr>
        <p:spPr>
          <a:xfrm>
            <a:off x="7943088" y="2743200"/>
            <a:ext cx="1615440" cy="777240"/>
          </a:xfrm>
          <a:prstGeom prst="roundRect">
            <a:avLst/>
          </a:prstGeom>
          <a:solidFill>
            <a:srgbClr val="161B25"/>
          </a:solidFill>
          <a:ln w="15875">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4ADE80"/>
                </a:solidFill>
                <a:latin typeface="Segoe UI"/>
              </a:rPr>
              <a:t>DuckDB</a:t>
            </a:r>
          </a:p>
          <a:p>
            <a:pPr algn="ctr"/>
            <a:r>
              <a:rPr sz="1000">
                <a:solidFill>
                  <a:srgbClr val="8B96A8"/>
                </a:solidFill>
                <a:latin typeface="Segoe UI"/>
              </a:rPr>
              <a:t>computes the number</a:t>
            </a:r>
          </a:p>
        </p:txBody>
      </p:sp>
      <p:sp>
        <p:nvSpPr>
          <p:cNvPr id="11" name="Rounded Rectangle 10"/>
          <p:cNvSpPr/>
          <p:nvPr/>
        </p:nvSpPr>
        <p:spPr>
          <a:xfrm>
            <a:off x="9723120" y="2743200"/>
            <a:ext cx="1615440" cy="777240"/>
          </a:xfrm>
          <a:prstGeom prst="roundRect">
            <a:avLst/>
          </a:prstGeom>
          <a:solidFill>
            <a:srgbClr val="161B25"/>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BBF24"/>
                </a:solidFill>
                <a:latin typeface="Segoe UI"/>
              </a:rPr>
              <a:t>Verify</a:t>
            </a:r>
          </a:p>
          <a:p>
            <a:pPr algn="ctr"/>
            <a:r>
              <a:rPr sz="1000">
                <a:solidFill>
                  <a:srgbClr val="8B96A8"/>
                </a:solidFill>
                <a:latin typeface="Segoe UI"/>
              </a:rPr>
              <a:t>every digit checked</a:t>
            </a:r>
          </a:p>
        </p:txBody>
      </p:sp>
      <p:sp>
        <p:nvSpPr>
          <p:cNvPr id="12" name="TextBox 11"/>
          <p:cNvSpPr txBox="1"/>
          <p:nvPr/>
        </p:nvSpPr>
        <p:spPr>
          <a:xfrm>
            <a:off x="822960" y="4023360"/>
            <a:ext cx="10515600" cy="1463040"/>
          </a:xfrm>
          <a:prstGeom prst="rect">
            <a:avLst/>
          </a:prstGeom>
          <a:noFill/>
        </p:spPr>
        <p:txBody>
          <a:bodyPr wrap="square" anchor="t">
            <a:spAutoFit/>
          </a:bodyPr>
          <a:lstStyle/>
          <a:p>
            <a:pPr algn="l">
              <a:lnSpc>
                <a:spcPct val="135000"/>
              </a:lnSpc>
              <a:spcAft>
                <a:spcPts val="600"/>
              </a:spcAft>
            </a:pPr>
            <a:r>
              <a:rPr sz="1700" b="1">
                <a:solidFill>
                  <a:srgbClr val="E6EBF2"/>
                </a:solidFill>
                <a:latin typeface="Segoe UI"/>
              </a:rPr>
              <a:t>The model's only output is a fixed 10-key JSON plan: dataset, filters, grouping, period.</a:t>
            </a:r>
          </a:p>
          <a:p>
            <a:pPr algn="l">
              <a:lnSpc>
                <a:spcPct val="135000"/>
              </a:lnSpc>
              <a:spcAft>
                <a:spcPts val="600"/>
              </a:spcAft>
            </a:pPr>
            <a:r>
              <a:rPr sz="1500" b="0">
                <a:solidFill>
                  <a:srgbClr val="8B96A8"/>
                </a:solidFill>
                <a:latin typeface="Segoe UI"/>
              </a:rPr>
              <a:t>There is no field in that schema where a figure can be written. Hallucinating a number is not something we detect and correct — it is something the interface makes impossible.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058400" cy="365760"/>
          </a:xfrm>
          <a:prstGeom prst="rect">
            <a:avLst/>
          </a:prstGeom>
          <a:noFill/>
        </p:spPr>
        <p:txBody>
          <a:bodyPr wrap="square" anchor="t">
            <a:spAutoFit/>
          </a:bodyPr>
          <a:lstStyle/>
          <a:p>
            <a:pPr algn="l">
              <a:lnSpc>
                <a:spcPct val="125000"/>
              </a:lnSpc>
              <a:spcAft>
                <a:spcPts val="600"/>
              </a:spcAft>
            </a:pPr>
            <a:r>
              <a:rPr sz="1200" b="1">
                <a:solidFill>
                  <a:srgbClr val="4ADE80"/>
                </a:solidFill>
                <a:latin typeface="Segoe UI"/>
              </a:rPr>
              <a:t>ARCHITECTURE</a:t>
            </a:r>
          </a:p>
        </p:txBody>
      </p:sp>
      <p:sp>
        <p:nvSpPr>
          <p:cNvPr id="4" name="TextBox 3"/>
          <p:cNvSpPr txBox="1"/>
          <p:nvPr/>
        </p:nvSpPr>
        <p:spPr>
          <a:xfrm>
            <a:off x="822960" y="914400"/>
            <a:ext cx="10515600" cy="914400"/>
          </a:xfrm>
          <a:prstGeom prst="rect">
            <a:avLst/>
          </a:prstGeom>
          <a:noFill/>
        </p:spPr>
        <p:txBody>
          <a:bodyPr wrap="square" anchor="t">
            <a:spAutoFit/>
          </a:bodyPr>
          <a:lstStyle/>
          <a:p>
            <a:pPr algn="l">
              <a:lnSpc>
                <a:spcPct val="125000"/>
              </a:lnSpc>
              <a:spcAft>
                <a:spcPts val="600"/>
              </a:spcAft>
            </a:pPr>
            <a:r>
              <a:rPr sz="3600" b="1">
                <a:solidFill>
                  <a:srgbClr val="E6EBF2"/>
                </a:solidFill>
                <a:latin typeface="Segoe UI"/>
              </a:rPr>
              <a:t>Three tiers of understanding, one path to a number</a:t>
            </a:r>
          </a:p>
        </p:txBody>
      </p:sp>
      <p:graphicFrame>
        <p:nvGraphicFramePr>
          <p:cNvPr id="5" name="Table 4"/>
          <p:cNvGraphicFramePr>
            <a:graphicFrameLocks noGrp="1"/>
          </p:cNvGraphicFramePr>
          <p:nvPr/>
        </p:nvGraphicFramePr>
        <p:xfrm>
          <a:off x="822960" y="2194560"/>
          <a:ext cx="10515600" cy="3840480"/>
        </p:xfrm>
        <a:graphic>
          <a:graphicData uri="http://schemas.openxmlformats.org/drawingml/2006/table">
            <a:tbl>
              <a:tblPr firstRow="1" bandRow="1">
                <a:tableStyleId>{5C22544A-7EE6-4342-B048-85BDC9FD1C3A}</a:tableStyleId>
              </a:tblPr>
              <a:tblGrid>
                <a:gridCol w="3291840"/>
                <a:gridCol w="2926080"/>
                <a:gridCol w="4297680"/>
              </a:tblGrid>
              <a:tr h="384048">
                <a:tc>
                  <a:txBody>
                    <a:bodyPr/>
                    <a:lstStyle/>
                    <a:p>
                      <a:pPr algn="l"/>
                      <a:r>
                        <a:rPr sz="1200" b="1">
                          <a:solidFill>
                            <a:srgbClr val="8B96A8"/>
                          </a:solidFill>
                          <a:latin typeface="Segoe UI"/>
                        </a:rPr>
                        <a:t>Stage</a:t>
                      </a:r>
                    </a:p>
                  </a:txBody>
                  <a:tcPr marL="128016" marR="91440" anchor="ctr">
                    <a:solidFill>
                      <a:srgbClr val="161B25"/>
                    </a:solidFill>
                  </a:tcPr>
                </a:tc>
                <a:tc>
                  <a:txBody>
                    <a:bodyPr/>
                    <a:lstStyle/>
                    <a:p>
                      <a:pPr algn="l"/>
                      <a:r>
                        <a:rPr sz="1200" b="1">
                          <a:solidFill>
                            <a:srgbClr val="8B96A8"/>
                          </a:solidFill>
                          <a:latin typeface="Segoe UI"/>
                        </a:rPr>
                        <a:t>Who does it</a:t>
                      </a:r>
                    </a:p>
                  </a:txBody>
                  <a:tcPr marL="128016" marR="91440" anchor="ctr">
                    <a:solidFill>
                      <a:srgbClr val="161B25"/>
                    </a:solidFill>
                  </a:tcPr>
                </a:tc>
                <a:tc>
                  <a:txBody>
                    <a:bodyPr/>
                    <a:lstStyle/>
                    <a:p>
                      <a:pPr algn="l"/>
                      <a:r>
                        <a:rPr sz="1200" b="1">
                          <a:solidFill>
                            <a:srgbClr val="8B96A8"/>
                          </a:solidFill>
                          <a:latin typeface="Segoe UI"/>
                        </a:rPr>
                        <a:t>Why</a:t>
                      </a:r>
                    </a:p>
                  </a:txBody>
                  <a:tcPr marL="128016" marR="91440" anchor="ctr">
                    <a:solidFill>
                      <a:srgbClr val="161B25"/>
                    </a:solidFill>
                  </a:tcPr>
                </a:tc>
              </a:tr>
              <a:tr h="384048">
                <a:tc>
                  <a:txBody>
                    <a:bodyPr/>
                    <a:lstStyle/>
                    <a:p>
                      <a:pPr algn="l"/>
                      <a:r>
                        <a:rPr sz="1200" b="0">
                          <a:solidFill>
                            <a:srgbClr val="E6EBF2"/>
                          </a:solidFill>
                          <a:latin typeface="Segoe UI"/>
                        </a:rPr>
                        <a:t>Understand the question</a:t>
                      </a:r>
                    </a:p>
                  </a:txBody>
                  <a:tcPr marL="128016" marR="91440" anchor="ctr">
                    <a:solidFill>
                      <a:srgbClr val="0E1117"/>
                    </a:solidFill>
                  </a:tcPr>
                </a:tc>
                <a:tc>
                  <a:txBody>
                    <a:bodyPr/>
                    <a:lstStyle/>
                    <a:p>
                      <a:pPr algn="l"/>
                      <a:r>
                        <a:rPr sz="1200" b="0">
                          <a:solidFill>
                            <a:srgbClr val="E6EBF2"/>
                          </a:solidFill>
                          <a:latin typeface="Segoe UI"/>
                        </a:rPr>
                        <a:t>LLM (3B)</a:t>
                      </a:r>
                    </a:p>
                  </a:txBody>
                  <a:tcPr marL="128016" marR="91440" anchor="ctr">
                    <a:solidFill>
                      <a:srgbClr val="0E1117"/>
                    </a:solidFill>
                  </a:tcPr>
                </a:tc>
                <a:tc>
                  <a:txBody>
                    <a:bodyPr/>
                    <a:lstStyle/>
                    <a:p>
                      <a:pPr algn="r"/>
                      <a:r>
                        <a:rPr sz="1200" b="0">
                          <a:solidFill>
                            <a:srgbClr val="E6EBF2"/>
                          </a:solidFill>
                          <a:latin typeface="Segoe UI"/>
                        </a:rPr>
                        <a:t>Language is what models are good at</a:t>
                      </a:r>
                    </a:p>
                  </a:txBody>
                  <a:tcPr marL="128016" marR="91440" anchor="ctr">
                    <a:solidFill>
                      <a:srgbClr val="0E1117"/>
                    </a:solidFill>
                  </a:tcPr>
                </a:tc>
              </a:tr>
              <a:tr h="384048">
                <a:tc>
                  <a:txBody>
                    <a:bodyPr/>
                    <a:lstStyle/>
                    <a:p>
                      <a:pPr algn="l"/>
                      <a:r>
                        <a:rPr sz="1200" b="0">
                          <a:solidFill>
                            <a:srgbClr val="E6EBF2"/>
                          </a:solidFill>
                          <a:latin typeface="Segoe UI"/>
                        </a:rPr>
                        <a:t>Choose filters, grouping, period</a:t>
                      </a:r>
                    </a:p>
                  </a:txBody>
                  <a:tcPr marL="128016" marR="91440" anchor="ctr">
                    <a:solidFill>
                      <a:srgbClr val="0E1117"/>
                    </a:solidFill>
                  </a:tcPr>
                </a:tc>
                <a:tc>
                  <a:txBody>
                    <a:bodyPr/>
                    <a:lstStyle/>
                    <a:p>
                      <a:pPr algn="l"/>
                      <a:r>
                        <a:rPr sz="1200" b="0">
                          <a:solidFill>
                            <a:srgbClr val="E6EBF2"/>
                          </a:solidFill>
                          <a:latin typeface="Segoe UI"/>
                        </a:rPr>
                        <a:t>LLM → JSON schema</a:t>
                      </a:r>
                    </a:p>
                  </a:txBody>
                  <a:tcPr marL="128016" marR="91440" anchor="ctr">
                    <a:solidFill>
                      <a:srgbClr val="0E1117"/>
                    </a:solidFill>
                  </a:tcPr>
                </a:tc>
                <a:tc>
                  <a:txBody>
                    <a:bodyPr/>
                    <a:lstStyle/>
                    <a:p>
                      <a:pPr algn="r"/>
                      <a:r>
                        <a:rPr sz="1200" b="0">
                          <a:solidFill>
                            <a:srgbClr val="E6EBF2"/>
                          </a:solidFill>
                          <a:latin typeface="Segoe UI"/>
                        </a:rPr>
                        <a:t>Tiny output space, fully validatable</a:t>
                      </a:r>
                    </a:p>
                  </a:txBody>
                  <a:tcPr marL="128016" marR="91440" anchor="ctr">
                    <a:solidFill>
                      <a:srgbClr val="0E1117"/>
                    </a:solidFill>
                  </a:tcPr>
                </a:tc>
              </a:tr>
              <a:tr h="384048">
                <a:tc>
                  <a:txBody>
                    <a:bodyPr/>
                    <a:lstStyle/>
                    <a:p>
                      <a:pPr algn="l"/>
                      <a:r>
                        <a:rPr sz="1200" b="0">
                          <a:solidFill>
                            <a:srgbClr val="E6EBF2"/>
                          </a:solidFill>
                          <a:latin typeface="Segoe UI"/>
                        </a:rPr>
                        <a:t>Resolve dates</a:t>
                      </a:r>
                    </a:p>
                  </a:txBody>
                  <a:tcPr marL="128016" marR="91440" anchor="ctr">
                    <a:solidFill>
                      <a:srgbClr val="0E1117"/>
                    </a:solidFill>
                  </a:tcPr>
                </a:tc>
                <a:tc>
                  <a:txBody>
                    <a:bodyPr/>
                    <a:lstStyle/>
                    <a:p>
                      <a:pPr algn="l"/>
                      <a:r>
                        <a:rPr sz="1200" b="0">
                          <a:solidFill>
                            <a:srgbClr val="E6EBF2"/>
                          </a:solidFill>
                          <a:latin typeface="Segoe UI"/>
                        </a:rPr>
                        <a:t>Python</a:t>
                      </a:r>
                    </a:p>
                  </a:txBody>
                  <a:tcPr marL="128016" marR="91440" anchor="ctr">
                    <a:solidFill>
                      <a:srgbClr val="0E1117"/>
                    </a:solidFill>
                  </a:tcPr>
                </a:tc>
                <a:tc>
                  <a:txBody>
                    <a:bodyPr/>
                    <a:lstStyle/>
                    <a:p>
                      <a:pPr algn="r"/>
                      <a:r>
                        <a:rPr sz="1200" b="0">
                          <a:solidFill>
                            <a:srgbClr val="E6EBF2"/>
                          </a:solidFill>
                          <a:latin typeface="Segoe UI"/>
                        </a:rPr>
                        <a:t>"Last month" must be exact, not probable</a:t>
                      </a:r>
                    </a:p>
                  </a:txBody>
                  <a:tcPr marL="128016" marR="91440" anchor="ctr">
                    <a:solidFill>
                      <a:srgbClr val="0E1117"/>
                    </a:solidFill>
                  </a:tcPr>
                </a:tc>
              </a:tr>
              <a:tr h="384048">
                <a:tc>
                  <a:txBody>
                    <a:bodyPr/>
                    <a:lstStyle/>
                    <a:p>
                      <a:pPr algn="l"/>
                      <a:r>
                        <a:rPr sz="1200" b="0">
                          <a:solidFill>
                            <a:srgbClr val="E6EBF2"/>
                          </a:solidFill>
                          <a:latin typeface="Segoe UI"/>
                        </a:rPr>
                        <a:t>Resolve counterparty names</a:t>
                      </a:r>
                    </a:p>
                  </a:txBody>
                  <a:tcPr marL="128016" marR="91440" anchor="ctr">
                    <a:solidFill>
                      <a:srgbClr val="0E1117"/>
                    </a:solidFill>
                  </a:tcPr>
                </a:tc>
                <a:tc>
                  <a:txBody>
                    <a:bodyPr/>
                    <a:lstStyle/>
                    <a:p>
                      <a:pPr algn="l"/>
                      <a:r>
                        <a:rPr sz="1200" b="0">
                          <a:solidFill>
                            <a:srgbClr val="E6EBF2"/>
                          </a:solidFill>
                          <a:latin typeface="Segoe UI"/>
                        </a:rPr>
                        <a:t>Fuzzy match vs real data</a:t>
                      </a:r>
                    </a:p>
                  </a:txBody>
                  <a:tcPr marL="128016" marR="91440" anchor="ctr">
                    <a:solidFill>
                      <a:srgbClr val="0E1117"/>
                    </a:solidFill>
                  </a:tcPr>
                </a:tc>
                <a:tc>
                  <a:txBody>
                    <a:bodyPr/>
                    <a:lstStyle/>
                    <a:p>
                      <a:pPr algn="r"/>
                      <a:r>
                        <a:rPr sz="1200" b="0">
                          <a:solidFill>
                            <a:srgbClr val="E6EBF2"/>
                          </a:solidFill>
                          <a:latin typeface="Segoe UI"/>
                        </a:rPr>
                        <a:t>The model cannot invent a payee</a:t>
                      </a:r>
                    </a:p>
                  </a:txBody>
                  <a:tcPr marL="128016" marR="91440" anchor="ctr">
                    <a:solidFill>
                      <a:srgbClr val="0E1117"/>
                    </a:solidFill>
                  </a:tcPr>
                </a:tc>
              </a:tr>
              <a:tr h="384048">
                <a:tc>
                  <a:txBody>
                    <a:bodyPr/>
                    <a:lstStyle/>
                    <a:p>
                      <a:pPr algn="l"/>
                      <a:r>
                        <a:rPr sz="1200" b="0">
                          <a:solidFill>
                            <a:srgbClr val="E6EBF2"/>
                          </a:solidFill>
                          <a:latin typeface="Segoe UI"/>
                        </a:rPr>
                        <a:t>Build SQL</a:t>
                      </a:r>
                    </a:p>
                  </a:txBody>
                  <a:tcPr marL="128016" marR="91440" anchor="ctr">
                    <a:solidFill>
                      <a:srgbClr val="0E1117"/>
                    </a:solidFill>
                  </a:tcPr>
                </a:tc>
                <a:tc>
                  <a:txBody>
                    <a:bodyPr/>
                    <a:lstStyle/>
                    <a:p>
                      <a:pPr algn="l"/>
                      <a:r>
                        <a:rPr sz="1200" b="0">
                          <a:solidFill>
                            <a:srgbClr val="E6EBF2"/>
                          </a:solidFill>
                          <a:latin typeface="Segoe UI"/>
                        </a:rPr>
                        <a:t>Whitelist builder</a:t>
                      </a:r>
                    </a:p>
                  </a:txBody>
                  <a:tcPr marL="128016" marR="91440" anchor="ctr">
                    <a:solidFill>
                      <a:srgbClr val="0E1117"/>
                    </a:solidFill>
                  </a:tcPr>
                </a:tc>
                <a:tc>
                  <a:txBody>
                    <a:bodyPr/>
                    <a:lstStyle/>
                    <a:p>
                      <a:pPr algn="r"/>
                      <a:r>
                        <a:rPr sz="1200" b="0">
                          <a:solidFill>
                            <a:srgbClr val="E6EBF2"/>
                          </a:solidFill>
                          <a:latin typeface="Segoe UI"/>
                        </a:rPr>
                        <a:t>Identifiers from catalog, literals bound</a:t>
                      </a:r>
                    </a:p>
                  </a:txBody>
                  <a:tcPr marL="128016" marR="91440" anchor="ctr">
                    <a:solidFill>
                      <a:srgbClr val="0E1117"/>
                    </a:solidFill>
                  </a:tcPr>
                </a:tc>
              </a:tr>
              <a:tr h="384048">
                <a:tc>
                  <a:txBody>
                    <a:bodyPr/>
                    <a:lstStyle/>
                    <a:p>
                      <a:pPr algn="l"/>
                      <a:r>
                        <a:rPr sz="1200" b="0">
                          <a:solidFill>
                            <a:srgbClr val="E6EBF2"/>
                          </a:solidFill>
                          <a:latin typeface="Segoe UI"/>
                        </a:rPr>
                        <a:t>Filter, group, aggregate</a:t>
                      </a:r>
                    </a:p>
                  </a:txBody>
                  <a:tcPr marL="128016" marR="91440" anchor="ctr">
                    <a:solidFill>
                      <a:srgbClr val="0E1117"/>
                    </a:solidFill>
                  </a:tcPr>
                </a:tc>
                <a:tc>
                  <a:txBody>
                    <a:bodyPr/>
                    <a:lstStyle/>
                    <a:p>
                      <a:pPr algn="l"/>
                      <a:r>
                        <a:rPr sz="1200" b="0">
                          <a:solidFill>
                            <a:srgbClr val="E6EBF2"/>
                          </a:solidFill>
                          <a:latin typeface="Segoe UI"/>
                        </a:rPr>
                        <a:t>DuckDB</a:t>
                      </a:r>
                    </a:p>
                  </a:txBody>
                  <a:tcPr marL="128016" marR="91440" anchor="ctr">
                    <a:solidFill>
                      <a:srgbClr val="0E1117"/>
                    </a:solidFill>
                  </a:tcPr>
                </a:tc>
                <a:tc>
                  <a:txBody>
                    <a:bodyPr/>
                    <a:lstStyle/>
                    <a:p>
                      <a:pPr algn="r"/>
                      <a:r>
                        <a:rPr sz="1200" b="0">
                          <a:solidFill>
                            <a:srgbClr val="E6EBF2"/>
                          </a:solidFill>
                          <a:latin typeface="Segoe UI"/>
                        </a:rPr>
                        <a:t>Arithmetic is exact and reproducible</a:t>
                      </a:r>
                    </a:p>
                  </a:txBody>
                  <a:tcPr marL="128016" marR="91440" anchor="ctr">
                    <a:solidFill>
                      <a:srgbClr val="0E1117"/>
                    </a:solidFill>
                  </a:tcPr>
                </a:tc>
              </a:tr>
              <a:tr h="384048">
                <a:tc>
                  <a:txBody>
                    <a:bodyPr/>
                    <a:lstStyle/>
                    <a:p>
                      <a:pPr algn="l"/>
                      <a:r>
                        <a:rPr sz="1200" b="0">
                          <a:solidFill>
                            <a:srgbClr val="E6EBF2"/>
                          </a:solidFill>
                          <a:latin typeface="Segoe UI"/>
                        </a:rPr>
                        <a:t>Repeat aggregates</a:t>
                      </a:r>
                    </a:p>
                  </a:txBody>
                  <a:tcPr marL="128016" marR="91440" anchor="ctr">
                    <a:solidFill>
                      <a:srgbClr val="0E1117"/>
                    </a:solidFill>
                  </a:tcPr>
                </a:tc>
                <a:tc>
                  <a:txBody>
                    <a:bodyPr/>
                    <a:lstStyle/>
                    <a:p>
                      <a:pPr algn="l"/>
                      <a:r>
                        <a:rPr sz="1200" b="0">
                          <a:solidFill>
                            <a:srgbClr val="E6EBF2"/>
                          </a:solidFill>
                          <a:latin typeface="Segoe UI"/>
                        </a:rPr>
                        <a:t>Pre-built monthly rollup</a:t>
                      </a:r>
                    </a:p>
                  </a:txBody>
                  <a:tcPr marL="128016" marR="91440" anchor="ctr">
                    <a:solidFill>
                      <a:srgbClr val="0E1117"/>
                    </a:solidFill>
                  </a:tcPr>
                </a:tc>
                <a:tc>
                  <a:txBody>
                    <a:bodyPr/>
                    <a:lstStyle/>
                    <a:p>
                      <a:pPr algn="r"/>
                      <a:r>
                        <a:rPr sz="1200" b="0">
                          <a:solidFill>
                            <a:srgbClr val="E6EBF2"/>
                          </a:solidFill>
                          <a:latin typeface="Segoe UI"/>
                        </a:rPr>
                        <a:t>Summary questions skip the raw scan</a:t>
                      </a:r>
                    </a:p>
                  </a:txBody>
                  <a:tcPr marL="128016" marR="91440" anchor="ctr">
                    <a:solidFill>
                      <a:srgbClr val="0E1117"/>
                    </a:solidFill>
                  </a:tcPr>
                </a:tc>
              </a:tr>
              <a:tr h="384048">
                <a:tc>
                  <a:txBody>
                    <a:bodyPr/>
                    <a:lstStyle/>
                    <a:p>
                      <a:pPr algn="l"/>
                      <a:r>
                        <a:rPr sz="1200" b="0">
                          <a:solidFill>
                            <a:srgbClr val="E6EBF2"/>
                          </a:solidFill>
                          <a:latin typeface="Segoe UI"/>
                        </a:rPr>
                        <a:t>Phrase the answer</a:t>
                      </a:r>
                    </a:p>
                  </a:txBody>
                  <a:tcPr marL="128016" marR="91440" anchor="ctr">
                    <a:solidFill>
                      <a:srgbClr val="0E1117"/>
                    </a:solidFill>
                  </a:tcPr>
                </a:tc>
                <a:tc>
                  <a:txBody>
                    <a:bodyPr/>
                    <a:lstStyle/>
                    <a:p>
                      <a:pPr algn="l"/>
                      <a:r>
                        <a:rPr sz="1200" b="0">
                          <a:solidFill>
                            <a:srgbClr val="E6EBF2"/>
                          </a:solidFill>
                          <a:latin typeface="Segoe UI"/>
                        </a:rPr>
                        <a:t>LLM (3B)</a:t>
                      </a:r>
                    </a:p>
                  </a:txBody>
                  <a:tcPr marL="128016" marR="91440" anchor="ctr">
                    <a:solidFill>
                      <a:srgbClr val="0E1117"/>
                    </a:solidFill>
                  </a:tcPr>
                </a:tc>
                <a:tc>
                  <a:txBody>
                    <a:bodyPr/>
                    <a:lstStyle/>
                    <a:p>
                      <a:pPr algn="r"/>
                      <a:r>
                        <a:rPr sz="1200" b="0">
                          <a:solidFill>
                            <a:srgbClr val="E6EBF2"/>
                          </a:solidFill>
                          <a:latin typeface="Segoe UI"/>
                        </a:rPr>
                        <a:t>Reads only pre-computed facts</a:t>
                      </a:r>
                    </a:p>
                  </a:txBody>
                  <a:tcPr marL="128016" marR="91440" anchor="ctr">
                    <a:solidFill>
                      <a:srgbClr val="0E1117"/>
                    </a:solidFill>
                  </a:tcPr>
                </a:tc>
              </a:tr>
              <a:tr h="384048">
                <a:tc>
                  <a:txBody>
                    <a:bodyPr/>
                    <a:lstStyle/>
                    <a:p>
                      <a:pPr algn="l"/>
                      <a:r>
                        <a:rPr sz="1200" b="0">
                          <a:solidFill>
                            <a:srgbClr val="E6EBF2"/>
                          </a:solidFill>
                          <a:latin typeface="Segoe UI"/>
                        </a:rPr>
                        <a:t>Publish</a:t>
                      </a:r>
                    </a:p>
                  </a:txBody>
                  <a:tcPr marL="128016" marR="91440" anchor="ctr">
                    <a:solidFill>
                      <a:srgbClr val="0E1117"/>
                    </a:solidFill>
                  </a:tcPr>
                </a:tc>
                <a:tc>
                  <a:txBody>
                    <a:bodyPr/>
                    <a:lstStyle/>
                    <a:p>
                      <a:pPr algn="l"/>
                      <a:r>
                        <a:rPr sz="1200" b="0">
                          <a:solidFill>
                            <a:srgbClr val="E6EBF2"/>
                          </a:solidFill>
                          <a:latin typeface="Segoe UI"/>
                        </a:rPr>
                        <a:t>Number guardrail</a:t>
                      </a:r>
                    </a:p>
                  </a:txBody>
                  <a:tcPr marL="128016" marR="91440" anchor="ctr">
                    <a:solidFill>
                      <a:srgbClr val="0E1117"/>
                    </a:solidFill>
                  </a:tcPr>
                </a:tc>
                <a:tc>
                  <a:txBody>
                    <a:bodyPr/>
                    <a:lstStyle/>
                    <a:p>
                      <a:pPr algn="r"/>
                      <a:r>
                        <a:rPr sz="1200" b="0">
                          <a:solidFill>
                            <a:srgbClr val="E6EBF2"/>
                          </a:solidFill>
                          <a:latin typeface="Segoe UI"/>
                        </a:rPr>
                        <a:t>Untraceable digit → answer replaced</a:t>
                      </a:r>
                    </a:p>
                  </a:txBody>
                  <a:tcPr marL="128016" marR="91440" anchor="ctr">
                    <a:solidFill>
                      <a:srgbClr val="0E1117"/>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058400" cy="365760"/>
          </a:xfrm>
          <a:prstGeom prst="rect">
            <a:avLst/>
          </a:prstGeom>
          <a:noFill/>
        </p:spPr>
        <p:txBody>
          <a:bodyPr wrap="square" anchor="t">
            <a:spAutoFit/>
          </a:bodyPr>
          <a:lstStyle/>
          <a:p>
            <a:pPr algn="l">
              <a:lnSpc>
                <a:spcPct val="125000"/>
              </a:lnSpc>
              <a:spcAft>
                <a:spcPts val="600"/>
              </a:spcAft>
            </a:pPr>
            <a:r>
              <a:rPr sz="1200" b="1">
                <a:solidFill>
                  <a:srgbClr val="4ADE80"/>
                </a:solidFill>
                <a:latin typeface="Segoe UI"/>
              </a:rPr>
              <a:t>GROUNDING</a:t>
            </a:r>
          </a:p>
        </p:txBody>
      </p:sp>
      <p:sp>
        <p:nvSpPr>
          <p:cNvPr id="4" name="TextBox 3"/>
          <p:cNvSpPr txBox="1"/>
          <p:nvPr/>
        </p:nvSpPr>
        <p:spPr>
          <a:xfrm>
            <a:off x="822960" y="914400"/>
            <a:ext cx="10515600" cy="914400"/>
          </a:xfrm>
          <a:prstGeom prst="rect">
            <a:avLst/>
          </a:prstGeom>
          <a:noFill/>
        </p:spPr>
        <p:txBody>
          <a:bodyPr wrap="square" anchor="t">
            <a:spAutoFit/>
          </a:bodyPr>
          <a:lstStyle/>
          <a:p>
            <a:pPr algn="l">
              <a:lnSpc>
                <a:spcPct val="125000"/>
              </a:lnSpc>
              <a:spcAft>
                <a:spcPts val="600"/>
              </a:spcAft>
            </a:pPr>
            <a:r>
              <a:rPr sz="3600" b="1">
                <a:solidFill>
                  <a:srgbClr val="E6EBF2"/>
                </a:solidFill>
                <a:latin typeface="Segoe UI"/>
              </a:rPr>
              <a:t>Five guardrails. Each one alone would stop a fabricated figure.</a:t>
            </a:r>
          </a:p>
        </p:txBody>
      </p:sp>
      <p:sp>
        <p:nvSpPr>
          <p:cNvPr id="5" name="TextBox 4"/>
          <p:cNvSpPr txBox="1"/>
          <p:nvPr/>
        </p:nvSpPr>
        <p:spPr>
          <a:xfrm>
            <a:off x="822960" y="2377440"/>
            <a:ext cx="10515600" cy="502920"/>
          </a:xfrm>
          <a:prstGeom prst="rect">
            <a:avLst/>
          </a:prstGeom>
          <a:noFill/>
        </p:spPr>
        <p:txBody>
          <a:bodyPr wrap="square">
            <a:spAutoFit/>
          </a:bodyPr>
          <a:lstStyle/>
          <a:p>
            <a:r>
              <a:rPr sz="1600">
                <a:solidFill>
                  <a:srgbClr val="4ADE80"/>
                </a:solidFill>
                <a:latin typeface="Segoe UI"/>
              </a:rPr>
              <a:t>—  </a:t>
            </a:r>
            <a:r>
              <a:rPr b="1" sz="1600">
                <a:solidFill>
                  <a:srgbClr val="E6EBF2"/>
                </a:solidFill>
                <a:latin typeface="Segoe UI"/>
              </a:rPr>
              <a:t>Cannot express a number.  </a:t>
            </a:r>
            <a:r>
              <a:rPr sz="1600">
                <a:solidFill>
                  <a:srgbClr val="8B96A8"/>
                </a:solidFill>
                <a:latin typeface="Segoe UI"/>
              </a:rPr>
              <a:t>Its only output is a query plan. No field holds a figure.</a:t>
            </a:r>
          </a:p>
        </p:txBody>
      </p:sp>
      <p:sp>
        <p:nvSpPr>
          <p:cNvPr id="6" name="TextBox 5"/>
          <p:cNvSpPr txBox="1"/>
          <p:nvPr/>
        </p:nvSpPr>
        <p:spPr>
          <a:xfrm>
            <a:off x="822960" y="2926080"/>
            <a:ext cx="10515600" cy="502920"/>
          </a:xfrm>
          <a:prstGeom prst="rect">
            <a:avLst/>
          </a:prstGeom>
          <a:noFill/>
        </p:spPr>
        <p:txBody>
          <a:bodyPr wrap="square">
            <a:spAutoFit/>
          </a:bodyPr>
          <a:lstStyle/>
          <a:p>
            <a:r>
              <a:rPr sz="1600">
                <a:solidFill>
                  <a:srgbClr val="4ADE80"/>
                </a:solidFill>
                <a:latin typeface="Segoe UI"/>
              </a:rPr>
              <a:t>—  </a:t>
            </a:r>
            <a:r>
              <a:rPr b="1" sz="1600">
                <a:solidFill>
                  <a:srgbClr val="E6EBF2"/>
                </a:solidFill>
                <a:latin typeface="Segoe UI"/>
              </a:rPr>
              <a:t>Cannot express a column.  </a:t>
            </a:r>
            <a:r>
              <a:rPr sz="1600">
                <a:solidFill>
                  <a:srgbClr val="8B96A8"/>
                </a:solidFill>
                <a:latin typeface="Segoe UI"/>
              </a:rPr>
              <a:t>Invented fields are stripped by the validator before SQL is built.</a:t>
            </a:r>
          </a:p>
        </p:txBody>
      </p:sp>
      <p:sp>
        <p:nvSpPr>
          <p:cNvPr id="7" name="TextBox 6"/>
          <p:cNvSpPr txBox="1"/>
          <p:nvPr/>
        </p:nvSpPr>
        <p:spPr>
          <a:xfrm>
            <a:off x="822960" y="3474720"/>
            <a:ext cx="10515600" cy="502920"/>
          </a:xfrm>
          <a:prstGeom prst="rect">
            <a:avLst/>
          </a:prstGeom>
          <a:noFill/>
        </p:spPr>
        <p:txBody>
          <a:bodyPr wrap="square">
            <a:spAutoFit/>
          </a:bodyPr>
          <a:lstStyle/>
          <a:p>
            <a:r>
              <a:rPr sz="1600">
                <a:solidFill>
                  <a:srgbClr val="4ADE80"/>
                </a:solidFill>
                <a:latin typeface="Segoe UI"/>
              </a:rPr>
              <a:t>—  </a:t>
            </a:r>
            <a:r>
              <a:rPr b="1" sz="1600">
                <a:solidFill>
                  <a:srgbClr val="E6EBF2"/>
                </a:solidFill>
                <a:latin typeface="Segoe UI"/>
              </a:rPr>
              <a:t>Cannot express an entity.  </a:t>
            </a:r>
            <a:r>
              <a:rPr sz="1600">
                <a:solidFill>
                  <a:srgbClr val="8B96A8"/>
                </a:solidFill>
                <a:latin typeface="Segoe UI"/>
              </a:rPr>
              <a:t>Names are matched against the data. No match → it says so.</a:t>
            </a:r>
          </a:p>
        </p:txBody>
      </p:sp>
      <p:sp>
        <p:nvSpPr>
          <p:cNvPr id="8" name="TextBox 7"/>
          <p:cNvSpPr txBox="1"/>
          <p:nvPr/>
        </p:nvSpPr>
        <p:spPr>
          <a:xfrm>
            <a:off x="822960" y="4023359"/>
            <a:ext cx="10515600" cy="502920"/>
          </a:xfrm>
          <a:prstGeom prst="rect">
            <a:avLst/>
          </a:prstGeom>
          <a:noFill/>
        </p:spPr>
        <p:txBody>
          <a:bodyPr wrap="square">
            <a:spAutoFit/>
          </a:bodyPr>
          <a:lstStyle/>
          <a:p>
            <a:r>
              <a:rPr sz="1600">
                <a:solidFill>
                  <a:srgbClr val="4ADE80"/>
                </a:solidFill>
                <a:latin typeface="Segoe UI"/>
              </a:rPr>
              <a:t>—  </a:t>
            </a:r>
            <a:r>
              <a:rPr b="1" sz="1600">
                <a:solidFill>
                  <a:srgbClr val="E6EBF2"/>
                </a:solidFill>
                <a:latin typeface="Segoe UI"/>
              </a:rPr>
              <a:t>Cannot compute.  </a:t>
            </a:r>
            <a:r>
              <a:rPr sz="1600">
                <a:solidFill>
                  <a:srgbClr val="8B96A8"/>
                </a:solidFill>
                <a:latin typeface="Segoe UI"/>
              </a:rPr>
              <a:t>Dates resolved in Python, maths in DuckDB, connection read-only.</a:t>
            </a:r>
          </a:p>
        </p:txBody>
      </p:sp>
      <p:sp>
        <p:nvSpPr>
          <p:cNvPr id="9" name="TextBox 8"/>
          <p:cNvSpPr txBox="1"/>
          <p:nvPr/>
        </p:nvSpPr>
        <p:spPr>
          <a:xfrm>
            <a:off x="822960" y="4572000"/>
            <a:ext cx="10515600" cy="502920"/>
          </a:xfrm>
          <a:prstGeom prst="rect">
            <a:avLst/>
          </a:prstGeom>
          <a:noFill/>
        </p:spPr>
        <p:txBody>
          <a:bodyPr wrap="square">
            <a:spAutoFit/>
          </a:bodyPr>
          <a:lstStyle/>
          <a:p>
            <a:r>
              <a:rPr sz="1600">
                <a:solidFill>
                  <a:srgbClr val="4ADE80"/>
                </a:solidFill>
                <a:latin typeface="Segoe UI"/>
              </a:rPr>
              <a:t>—  </a:t>
            </a:r>
            <a:r>
              <a:rPr b="1" sz="1600">
                <a:solidFill>
                  <a:srgbClr val="E6EBF2"/>
                </a:solidFill>
                <a:latin typeface="Segoe UI"/>
              </a:rPr>
              <a:t>Its wording is verified.  </a:t>
            </a:r>
            <a:r>
              <a:rPr sz="1600">
                <a:solidFill>
                  <a:srgbClr val="8B96A8"/>
                </a:solidFill>
                <a:latin typeface="Segoe UI"/>
              </a:rPr>
              <a:t>Every digit traced to the result set. One miss → sentence discarded.</a:t>
            </a:r>
          </a:p>
        </p:txBody>
      </p:sp>
      <p:sp>
        <p:nvSpPr>
          <p:cNvPr id="10" name="Rectangle 9"/>
          <p:cNvSpPr/>
          <p:nvPr/>
        </p:nvSpPr>
        <p:spPr>
          <a:xfrm>
            <a:off x="822960" y="5349240"/>
            <a:ext cx="10515600" cy="914400"/>
          </a:xfrm>
          <a:prstGeom prst="rect">
            <a:avLst/>
          </a:prstGeom>
          <a:solidFill>
            <a:srgbClr val="161B25"/>
          </a:solidFill>
          <a:ln w="12700">
            <a:solidFill>
              <a:srgbClr val="262E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 y="5349240"/>
            <a:ext cx="45720" cy="914400"/>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5550408"/>
            <a:ext cx="10058400" cy="365760"/>
          </a:xfrm>
          <a:prstGeom prst="rect">
            <a:avLst/>
          </a:prstGeom>
          <a:noFill/>
        </p:spPr>
        <p:txBody>
          <a:bodyPr wrap="square" anchor="t">
            <a:spAutoFit/>
          </a:bodyPr>
          <a:lstStyle/>
          <a:p>
            <a:pPr algn="l">
              <a:lnSpc>
                <a:spcPct val="125000"/>
              </a:lnSpc>
              <a:spcAft>
                <a:spcPts val="600"/>
              </a:spcAft>
            </a:pPr>
            <a:r>
              <a:rPr sz="1500" b="1">
                <a:solidFill>
                  <a:srgbClr val="E6EBF2"/>
                </a:solidFill>
                <a:latin typeface="Segoe UI"/>
              </a:rPr>
              <a:t>And when there is no answer</a:t>
            </a:r>
          </a:p>
        </p:txBody>
      </p:sp>
      <p:sp>
        <p:nvSpPr>
          <p:cNvPr id="13" name="TextBox 12"/>
          <p:cNvSpPr txBox="1"/>
          <p:nvPr/>
        </p:nvSpPr>
        <p:spPr>
          <a:xfrm>
            <a:off x="1097280" y="6007608"/>
            <a:ext cx="10058400" cy="91440"/>
          </a:xfrm>
          <a:prstGeom prst="rect">
            <a:avLst/>
          </a:prstGeom>
          <a:noFill/>
        </p:spPr>
        <p:txBody>
          <a:bodyPr wrap="square" anchor="t">
            <a:spAutoFit/>
          </a:bodyPr>
          <a:lstStyle/>
          <a:p>
            <a:pPr algn="l">
              <a:lnSpc>
                <a:spcPct val="125000"/>
              </a:lnSpc>
              <a:spcAft>
                <a:spcPts val="600"/>
              </a:spcAft>
            </a:pPr>
            <a:r>
              <a:rPr sz="1250" b="0">
                <a:solidFill>
                  <a:srgbClr val="8B96A8"/>
                </a:solidFill>
                <a:latin typeface="Segoe UI"/>
              </a:rPr>
              <a:t>Unknown counterparty, unsupported question or zero matching rows produce an explicit refusal — never an estimate. Two of the twenty benchmark questions exist purely to test this.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058400" cy="365760"/>
          </a:xfrm>
          <a:prstGeom prst="rect">
            <a:avLst/>
          </a:prstGeom>
          <a:noFill/>
        </p:spPr>
        <p:txBody>
          <a:bodyPr wrap="square" anchor="t">
            <a:spAutoFit/>
          </a:bodyPr>
          <a:lstStyle/>
          <a:p>
            <a:pPr algn="l">
              <a:lnSpc>
                <a:spcPct val="125000"/>
              </a:lnSpc>
              <a:spcAft>
                <a:spcPts val="600"/>
              </a:spcAft>
            </a:pPr>
            <a:r>
              <a:rPr sz="1200" b="1">
                <a:solidFill>
                  <a:srgbClr val="4ADE80"/>
                </a:solidFill>
                <a:latin typeface="Segoe UI"/>
              </a:rPr>
              <a:t>THE DATA</a:t>
            </a:r>
          </a:p>
        </p:txBody>
      </p:sp>
      <p:sp>
        <p:nvSpPr>
          <p:cNvPr id="4" name="TextBox 3"/>
          <p:cNvSpPr txBox="1"/>
          <p:nvPr/>
        </p:nvSpPr>
        <p:spPr>
          <a:xfrm>
            <a:off x="822960" y="914400"/>
            <a:ext cx="10515600" cy="914400"/>
          </a:xfrm>
          <a:prstGeom prst="rect">
            <a:avLst/>
          </a:prstGeom>
          <a:noFill/>
        </p:spPr>
        <p:txBody>
          <a:bodyPr wrap="square" anchor="t">
            <a:spAutoFit/>
          </a:bodyPr>
          <a:lstStyle/>
          <a:p>
            <a:pPr algn="l">
              <a:lnSpc>
                <a:spcPct val="125000"/>
              </a:lnSpc>
              <a:spcAft>
                <a:spcPts val="600"/>
              </a:spcAft>
            </a:pPr>
            <a:r>
              <a:rPr sz="3600" b="1">
                <a:solidFill>
                  <a:srgbClr val="E6EBF2"/>
                </a:solidFill>
                <a:latin typeface="Segoe UI"/>
              </a:rPr>
              <a:t>The schema has no counterparty and no reconciliation column</a:t>
            </a:r>
          </a:p>
        </p:txBody>
      </p:sp>
      <p:sp>
        <p:nvSpPr>
          <p:cNvPr id="5" name="TextBox 4"/>
          <p:cNvSpPr txBox="1"/>
          <p:nvPr/>
        </p:nvSpPr>
        <p:spPr>
          <a:xfrm>
            <a:off x="822960" y="1783080"/>
            <a:ext cx="10515600" cy="548640"/>
          </a:xfrm>
          <a:prstGeom prst="rect">
            <a:avLst/>
          </a:prstGeom>
          <a:noFill/>
        </p:spPr>
        <p:txBody>
          <a:bodyPr wrap="square" anchor="t">
            <a:spAutoFit/>
          </a:bodyPr>
          <a:lstStyle/>
          <a:p>
            <a:pPr algn="l">
              <a:lnSpc>
                <a:spcPct val="125000"/>
              </a:lnSpc>
              <a:spcAft>
                <a:spcPts val="600"/>
              </a:spcAft>
            </a:pPr>
            <a:r>
              <a:rPr sz="1700" b="0">
                <a:solidFill>
                  <a:srgbClr val="8B96A8"/>
                </a:solidFill>
                <a:latin typeface="Segoe UI"/>
              </a:rPr>
              <a:t>Both are central to the brief. We derived them from real columns rather than inventing them.</a:t>
            </a:r>
          </a:p>
        </p:txBody>
      </p:sp>
      <p:graphicFrame>
        <p:nvGraphicFramePr>
          <p:cNvPr id="6" name="Table 5"/>
          <p:cNvGraphicFramePr>
            <a:graphicFrameLocks noGrp="1"/>
          </p:cNvGraphicFramePr>
          <p:nvPr/>
        </p:nvGraphicFramePr>
        <p:xfrm>
          <a:off x="822960" y="2651760"/>
          <a:ext cx="10515600" cy="1920240"/>
        </p:xfrm>
        <a:graphic>
          <a:graphicData uri="http://schemas.openxmlformats.org/drawingml/2006/table">
            <a:tbl>
              <a:tblPr firstRow="1" bandRow="1">
                <a:tableStyleId>{5C22544A-7EE6-4342-B048-85BDC9FD1C3A}</a:tableStyleId>
              </a:tblPr>
              <a:tblGrid>
                <a:gridCol w="2468880"/>
                <a:gridCol w="5120640"/>
                <a:gridCol w="2926080"/>
              </a:tblGrid>
              <a:tr h="384048">
                <a:tc>
                  <a:txBody>
                    <a:bodyPr/>
                    <a:lstStyle/>
                    <a:p>
                      <a:pPr algn="l"/>
                      <a:r>
                        <a:rPr sz="1200" b="1">
                          <a:solidFill>
                            <a:srgbClr val="8B96A8"/>
                          </a:solidFill>
                          <a:latin typeface="Segoe UI"/>
                        </a:rPr>
                        <a:t>Field</a:t>
                      </a:r>
                    </a:p>
                  </a:txBody>
                  <a:tcPr marL="128016" marR="91440" anchor="ctr">
                    <a:solidFill>
                      <a:srgbClr val="161B25"/>
                    </a:solidFill>
                  </a:tcPr>
                </a:tc>
                <a:tc>
                  <a:txBody>
                    <a:bodyPr/>
                    <a:lstStyle/>
                    <a:p>
                      <a:pPr algn="l"/>
                      <a:r>
                        <a:rPr sz="1200" b="1">
                          <a:solidFill>
                            <a:srgbClr val="8B96A8"/>
                          </a:solidFill>
                          <a:latin typeface="Segoe UI"/>
                        </a:rPr>
                        <a:t>Derived from</a:t>
                      </a:r>
                    </a:p>
                  </a:txBody>
                  <a:tcPr marL="128016" marR="91440" anchor="ctr">
                    <a:solidFill>
                      <a:srgbClr val="161B25"/>
                    </a:solidFill>
                  </a:tcPr>
                </a:tc>
                <a:tc>
                  <a:txBody>
                    <a:bodyPr/>
                    <a:lstStyle/>
                    <a:p>
                      <a:pPr algn="l"/>
                      <a:r>
                        <a:rPr sz="1200" b="1">
                          <a:solidFill>
                            <a:srgbClr val="8B96A8"/>
                          </a:solidFill>
                          <a:latin typeface="Segoe UI"/>
                        </a:rPr>
                        <a:t>Stated to the user</a:t>
                      </a:r>
                    </a:p>
                  </a:txBody>
                  <a:tcPr marL="128016" marR="91440" anchor="ctr">
                    <a:solidFill>
                      <a:srgbClr val="161B25"/>
                    </a:solidFill>
                  </a:tcPr>
                </a:tc>
              </a:tr>
              <a:tr h="384048">
                <a:tc>
                  <a:txBody>
                    <a:bodyPr/>
                    <a:lstStyle/>
                    <a:p>
                      <a:pPr algn="l"/>
                      <a:r>
                        <a:rPr sz="1200" b="0">
                          <a:solidFill>
                            <a:srgbClr val="E6EBF2"/>
                          </a:solidFill>
                          <a:latin typeface="Segoe UI"/>
                        </a:rPr>
                        <a:t>counterparty</a:t>
                      </a:r>
                    </a:p>
                  </a:txBody>
                  <a:tcPr marL="128016" marR="91440" anchor="ctr">
                    <a:solidFill>
                      <a:srgbClr val="0E1117"/>
                    </a:solidFill>
                  </a:tcPr>
                </a:tc>
                <a:tc>
                  <a:txBody>
                    <a:bodyPr/>
                    <a:lstStyle/>
                    <a:p>
                      <a:pPr algn="l"/>
                      <a:r>
                        <a:rPr sz="1200" b="0">
                          <a:solidFill>
                            <a:srgbClr val="E6EBF2"/>
                          </a:solidFill>
                          <a:latin typeface="Segoe UI"/>
                        </a:rPr>
                        <a:t>Longest capitalised run in the narration, rail noise stripped</a:t>
                      </a:r>
                    </a:p>
                  </a:txBody>
                  <a:tcPr marL="128016" marR="91440" anchor="ctr">
                    <a:solidFill>
                      <a:srgbClr val="0E1117"/>
                    </a:solidFill>
                  </a:tcPr>
                </a:tc>
                <a:tc>
                  <a:txBody>
                    <a:bodyPr/>
                    <a:lstStyle/>
                    <a:p>
                      <a:pPr algn="r"/>
                      <a:r>
                        <a:rPr sz="1200" b="0">
                          <a:solidFill>
                            <a:srgbClr val="E6EBF2"/>
                          </a:solidFill>
                          <a:latin typeface="Segoe UI"/>
                        </a:rPr>
                        <a:t>"parsed out of free-text"</a:t>
                      </a:r>
                    </a:p>
                  </a:txBody>
                  <a:tcPr marL="128016" marR="91440" anchor="ctr">
                    <a:solidFill>
                      <a:srgbClr val="0E1117"/>
                    </a:solidFill>
                  </a:tcPr>
                </a:tc>
              </a:tr>
              <a:tr h="384048">
                <a:tc>
                  <a:txBody>
                    <a:bodyPr/>
                    <a:lstStyle/>
                    <a:p>
                      <a:pPr algn="l"/>
                      <a:r>
                        <a:rPr sz="1200" b="0">
                          <a:solidFill>
                            <a:srgbClr val="E6EBF2"/>
                          </a:solidFill>
                          <a:latin typeface="Segoe UI"/>
                        </a:rPr>
                        <a:t>channel</a:t>
                      </a:r>
                    </a:p>
                  </a:txBody>
                  <a:tcPr marL="128016" marR="91440" anchor="ctr">
                    <a:solidFill>
                      <a:srgbClr val="0E1117"/>
                    </a:solidFill>
                  </a:tcPr>
                </a:tc>
                <a:tc>
                  <a:txBody>
                    <a:bodyPr/>
                    <a:lstStyle/>
                    <a:p>
                      <a:pPr algn="l"/>
                      <a:r>
                        <a:rPr sz="1200" b="0">
                          <a:solidFill>
                            <a:srgbClr val="E6EBF2"/>
                          </a:solidFill>
                          <a:latin typeface="Segoe UI"/>
                        </a:rPr>
                        <a:t>UPI / NEFT / IMPS / RTGS / FT / CHEQUE / ACH / CHARGES</a:t>
                      </a:r>
                    </a:p>
                  </a:txBody>
                  <a:tcPr marL="128016" marR="91440" anchor="ctr">
                    <a:solidFill>
                      <a:srgbClr val="0E1117"/>
                    </a:solidFill>
                  </a:tcPr>
                </a:tc>
                <a:tc>
                  <a:txBody>
                    <a:bodyPr/>
                    <a:lstStyle/>
                    <a:p>
                      <a:pPr algn="r"/>
                      <a:r>
                        <a:rPr sz="1200" b="0">
                          <a:solidFill>
                            <a:srgbClr val="E6EBF2"/>
                          </a:solidFill>
                          <a:latin typeface="Segoe UI"/>
                        </a:rPr>
                        <a:t>shown as a field</a:t>
                      </a:r>
                    </a:p>
                  </a:txBody>
                  <a:tcPr marL="128016" marR="91440" anchor="ctr">
                    <a:solidFill>
                      <a:srgbClr val="0E1117"/>
                    </a:solidFill>
                  </a:tcPr>
                </a:tc>
              </a:tr>
              <a:tr h="384048">
                <a:tc>
                  <a:txBody>
                    <a:bodyPr/>
                    <a:lstStyle/>
                    <a:p>
                      <a:pPr algn="l"/>
                      <a:r>
                        <a:rPr sz="1200" b="0">
                          <a:solidFill>
                            <a:srgbClr val="E6EBF2"/>
                          </a:solidFill>
                          <a:latin typeface="Segoe UI"/>
                        </a:rPr>
                        <a:t>reconciliation_status</a:t>
                      </a:r>
                    </a:p>
                  </a:txBody>
                  <a:tcPr marL="128016" marR="91440" anchor="ctr">
                    <a:solidFill>
                      <a:srgbClr val="0E1117"/>
                    </a:solidFill>
                  </a:tcPr>
                </a:tc>
                <a:tc>
                  <a:txBody>
                    <a:bodyPr/>
                    <a:lstStyle/>
                    <a:p>
                      <a:pPr algn="l"/>
                      <a:r>
                        <a:rPr sz="1200" b="0">
                          <a:solidFill>
                            <a:srgbClr val="E6EBF2"/>
                          </a:solidFill>
                          <a:latin typeface="Segoe UI"/>
                        </a:rPr>
                        <a:t>Has a bank reference OR a UTR → reconciled</a:t>
                      </a:r>
                    </a:p>
                  </a:txBody>
                  <a:tcPr marL="128016" marR="91440" anchor="ctr">
                    <a:solidFill>
                      <a:srgbClr val="0E1117"/>
                    </a:solidFill>
                  </a:tcPr>
                </a:tc>
                <a:tc>
                  <a:txBody>
                    <a:bodyPr/>
                    <a:lstStyle/>
                    <a:p>
                      <a:pPr algn="r"/>
                      <a:r>
                        <a:rPr sz="1200" b="0">
                          <a:solidFill>
                            <a:srgbClr val="E6EBF2"/>
                          </a:solidFill>
                          <a:latin typeface="Segoe UI"/>
                        </a:rPr>
                        <a:t>definition quoted in full</a:t>
                      </a:r>
                    </a:p>
                  </a:txBody>
                  <a:tcPr marL="128016" marR="91440" anchor="ctr">
                    <a:solidFill>
                      <a:srgbClr val="0E1117"/>
                    </a:solidFill>
                  </a:tcPr>
                </a:tc>
              </a:tr>
              <a:tr h="384048">
                <a:tc>
                  <a:txBody>
                    <a:bodyPr/>
                    <a:lstStyle/>
                    <a:p>
                      <a:pPr algn="l"/>
                      <a:r>
                        <a:rPr sz="1200" b="0">
                          <a:solidFill>
                            <a:srgbClr val="E6EBF2"/>
                          </a:solidFill>
                          <a:latin typeface="Segoe UI"/>
                        </a:rPr>
                        <a:t>account_number_masked</a:t>
                      </a:r>
                    </a:p>
                  </a:txBody>
                  <a:tcPr marL="128016" marR="91440" anchor="ctr">
                    <a:solidFill>
                      <a:srgbClr val="0E1117"/>
                    </a:solidFill>
                  </a:tcPr>
                </a:tc>
                <a:tc>
                  <a:txBody>
                    <a:bodyPr/>
                    <a:lstStyle/>
                    <a:p>
                      <a:pPr algn="l"/>
                      <a:r>
                        <a:rPr sz="1200" b="0">
                          <a:solidFill>
                            <a:srgbClr val="E6EBF2"/>
                          </a:solidFill>
                          <a:latin typeface="Segoe UI"/>
                        </a:rPr>
                        <a:t>Last 4 digits only</a:t>
                      </a:r>
                    </a:p>
                  </a:txBody>
                  <a:tcPr marL="128016" marR="91440" anchor="ctr">
                    <a:solidFill>
                      <a:srgbClr val="0E1117"/>
                    </a:solidFill>
                  </a:tcPr>
                </a:tc>
                <a:tc>
                  <a:txBody>
                    <a:bodyPr/>
                    <a:lstStyle/>
                    <a:p>
                      <a:pPr algn="r"/>
                      <a:r>
                        <a:rPr sz="1200" b="0">
                          <a:solidFill>
                            <a:srgbClr val="E6EBF2"/>
                          </a:solidFill>
                          <a:latin typeface="Segoe UI"/>
                        </a:rPr>
                        <a:t>raw column not in the catalog</a:t>
                      </a:r>
                    </a:p>
                  </a:txBody>
                  <a:tcPr marL="128016" marR="91440" anchor="ctr">
                    <a:solidFill>
                      <a:srgbClr val="0E1117"/>
                    </a:solidFill>
                  </a:tcPr>
                </a:tc>
              </a:tr>
            </a:tbl>
          </a:graphicData>
        </a:graphic>
      </p:graphicFrame>
      <p:sp>
        <p:nvSpPr>
          <p:cNvPr id="7" name="Rectangle 6"/>
          <p:cNvSpPr/>
          <p:nvPr/>
        </p:nvSpPr>
        <p:spPr>
          <a:xfrm>
            <a:off x="822960" y="4754880"/>
            <a:ext cx="5120640" cy="1463040"/>
          </a:xfrm>
          <a:prstGeom prst="rect">
            <a:avLst/>
          </a:prstGeom>
          <a:solidFill>
            <a:srgbClr val="161B25"/>
          </a:solidFill>
          <a:ln w="12700">
            <a:solidFill>
              <a:srgbClr val="262E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4754880"/>
            <a:ext cx="45720" cy="146304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956048"/>
            <a:ext cx="4663440" cy="365760"/>
          </a:xfrm>
          <a:prstGeom prst="rect">
            <a:avLst/>
          </a:prstGeom>
          <a:noFill/>
        </p:spPr>
        <p:txBody>
          <a:bodyPr wrap="square" anchor="t">
            <a:spAutoFit/>
          </a:bodyPr>
          <a:lstStyle/>
          <a:p>
            <a:pPr algn="l">
              <a:lnSpc>
                <a:spcPct val="125000"/>
              </a:lnSpc>
              <a:spcAft>
                <a:spcPts val="600"/>
              </a:spcAft>
            </a:pPr>
            <a:r>
              <a:rPr sz="1500" b="1">
                <a:solidFill>
                  <a:srgbClr val="E6EBF2"/>
                </a:solidFill>
                <a:latin typeface="Segoe UI"/>
              </a:rPr>
              <a:t>Validated against real narrations</a:t>
            </a:r>
          </a:p>
        </p:txBody>
      </p:sp>
      <p:sp>
        <p:nvSpPr>
          <p:cNvPr id="10" name="TextBox 9"/>
          <p:cNvSpPr txBox="1"/>
          <p:nvPr/>
        </p:nvSpPr>
        <p:spPr>
          <a:xfrm>
            <a:off x="1097280" y="5413248"/>
            <a:ext cx="4663440" cy="640080"/>
          </a:xfrm>
          <a:prstGeom prst="rect">
            <a:avLst/>
          </a:prstGeom>
          <a:noFill/>
        </p:spPr>
        <p:txBody>
          <a:bodyPr wrap="square" anchor="t">
            <a:spAutoFit/>
          </a:bodyPr>
          <a:lstStyle/>
          <a:p>
            <a:pPr algn="l">
              <a:lnSpc>
                <a:spcPct val="125000"/>
              </a:lnSpc>
              <a:spcAft>
                <a:spcPts val="600"/>
              </a:spcAft>
            </a:pPr>
            <a:r>
              <a:rPr sz="1250" b="0">
                <a:solidFill>
                  <a:srgbClr val="8B96A8"/>
                </a:solidFill>
                <a:latin typeface="Segoe UI"/>
              </a:rPr>
              <a:t>All 10 production sample rows in the schema doc parse to the right counterparty and channel, and the one row with neither reference nor UTR is correctly flagged unreconciled. Asserted on every test run.</a:t>
            </a:r>
          </a:p>
        </p:txBody>
      </p:sp>
      <p:sp>
        <p:nvSpPr>
          <p:cNvPr id="11" name="Rectangle 10"/>
          <p:cNvSpPr/>
          <p:nvPr/>
        </p:nvSpPr>
        <p:spPr>
          <a:xfrm>
            <a:off x="6217920" y="4754880"/>
            <a:ext cx="5120640" cy="1463040"/>
          </a:xfrm>
          <a:prstGeom prst="rect">
            <a:avLst/>
          </a:prstGeom>
          <a:solidFill>
            <a:srgbClr val="161B25"/>
          </a:solidFill>
          <a:ln w="12700">
            <a:solidFill>
              <a:srgbClr val="262E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4754880"/>
            <a:ext cx="45720" cy="146304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4956048"/>
            <a:ext cx="4663440" cy="365760"/>
          </a:xfrm>
          <a:prstGeom prst="rect">
            <a:avLst/>
          </a:prstGeom>
          <a:noFill/>
        </p:spPr>
        <p:txBody>
          <a:bodyPr wrap="square" anchor="t">
            <a:spAutoFit/>
          </a:bodyPr>
          <a:lstStyle/>
          <a:p>
            <a:pPr algn="l">
              <a:lnSpc>
                <a:spcPct val="125000"/>
              </a:lnSpc>
              <a:spcAft>
                <a:spcPts val="600"/>
              </a:spcAft>
            </a:pPr>
            <a:r>
              <a:rPr sz="1500" b="1">
                <a:solidFill>
                  <a:srgbClr val="E6EBF2"/>
                </a:solidFill>
                <a:latin typeface="Segoe UI"/>
              </a:rPr>
              <a:t>Reads your real database</a:t>
            </a:r>
          </a:p>
        </p:txBody>
      </p:sp>
      <p:sp>
        <p:nvSpPr>
          <p:cNvPr id="14" name="TextBox 13"/>
          <p:cNvSpPr txBox="1"/>
          <p:nvPr/>
        </p:nvSpPr>
        <p:spPr>
          <a:xfrm>
            <a:off x="6492240" y="5413248"/>
            <a:ext cx="4663440" cy="640080"/>
          </a:xfrm>
          <a:prstGeom prst="rect">
            <a:avLst/>
          </a:prstGeom>
          <a:noFill/>
        </p:spPr>
        <p:txBody>
          <a:bodyPr wrap="square" anchor="t">
            <a:spAutoFit/>
          </a:bodyPr>
          <a:lstStyle/>
          <a:p>
            <a:pPr algn="l">
              <a:lnSpc>
                <a:spcPct val="125000"/>
              </a:lnSpc>
              <a:spcAft>
                <a:spcPts val="600"/>
              </a:spcAft>
            </a:pPr>
            <a:r>
              <a:rPr sz="1250" b="0">
                <a:solidFill>
                  <a:srgbClr val="8B96A8"/>
                </a:solidFill>
                <a:latin typeface="Segoe UI"/>
              </a:rPr>
              <a:t>A sync job pulls bank / account / transaction straight from MySQL, decrypts the protected columns on the way in, and materialises the analysis copy. No manual export step.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058400" cy="365760"/>
          </a:xfrm>
          <a:prstGeom prst="rect">
            <a:avLst/>
          </a:prstGeom>
          <a:noFill/>
        </p:spPr>
        <p:txBody>
          <a:bodyPr wrap="square" anchor="t">
            <a:spAutoFit/>
          </a:bodyPr>
          <a:lstStyle/>
          <a:p>
            <a:pPr algn="l">
              <a:lnSpc>
                <a:spcPct val="125000"/>
              </a:lnSpc>
              <a:spcAft>
                <a:spcPts val="600"/>
              </a:spcAft>
            </a:pPr>
            <a:r>
              <a:rPr sz="1200" b="1">
                <a:solidFill>
                  <a:srgbClr val="4ADE80"/>
                </a:solidFill>
                <a:latin typeface="Segoe UI"/>
              </a:rPr>
              <a:t>SENSITIVE DATA</a:t>
            </a:r>
          </a:p>
        </p:txBody>
      </p:sp>
      <p:sp>
        <p:nvSpPr>
          <p:cNvPr id="4" name="TextBox 3"/>
          <p:cNvSpPr txBox="1"/>
          <p:nvPr/>
        </p:nvSpPr>
        <p:spPr>
          <a:xfrm>
            <a:off x="822960" y="914400"/>
            <a:ext cx="10515600" cy="914400"/>
          </a:xfrm>
          <a:prstGeom prst="rect">
            <a:avLst/>
          </a:prstGeom>
          <a:noFill/>
        </p:spPr>
        <p:txBody>
          <a:bodyPr wrap="square" anchor="t">
            <a:spAutoFit/>
          </a:bodyPr>
          <a:lstStyle/>
          <a:p>
            <a:pPr algn="l">
              <a:lnSpc>
                <a:spcPct val="125000"/>
              </a:lnSpc>
              <a:spcAft>
                <a:spcPts val="600"/>
              </a:spcAft>
            </a:pPr>
            <a:r>
              <a:rPr sz="3600" b="1">
                <a:solidFill>
                  <a:srgbClr val="E6EBF2"/>
                </a:solidFill>
                <a:latin typeface="Segoe UI"/>
              </a:rPr>
              <a:t>The schema flags two columns as sensitive. Neither can leave the database.</a:t>
            </a:r>
          </a:p>
        </p:txBody>
      </p:sp>
      <p:sp>
        <p:nvSpPr>
          <p:cNvPr id="5" name="TextBox 4"/>
          <p:cNvSpPr txBox="1"/>
          <p:nvPr/>
        </p:nvSpPr>
        <p:spPr>
          <a:xfrm>
            <a:off x="822960" y="1783080"/>
            <a:ext cx="10515600" cy="548640"/>
          </a:xfrm>
          <a:prstGeom prst="rect">
            <a:avLst/>
          </a:prstGeom>
          <a:noFill/>
        </p:spPr>
        <p:txBody>
          <a:bodyPr wrap="square" anchor="t">
            <a:spAutoFit/>
          </a:bodyPr>
          <a:lstStyle/>
          <a:p>
            <a:pPr algn="l">
              <a:lnSpc>
                <a:spcPct val="125000"/>
              </a:lnSpc>
              <a:spcAft>
                <a:spcPts val="600"/>
              </a:spcAft>
            </a:pPr>
            <a:r>
              <a:rPr sz="1700" b="0">
                <a:solidFill>
                  <a:srgbClr val="8B96A8"/>
                </a:solidFill>
                <a:latin typeface="Segoe UI"/>
              </a:rPr>
              <a:t>account_number and utr_number are protected at four independent layers.</a:t>
            </a:r>
          </a:p>
        </p:txBody>
      </p:sp>
      <p:graphicFrame>
        <p:nvGraphicFramePr>
          <p:cNvPr id="6" name="Table 5"/>
          <p:cNvGraphicFramePr>
            <a:graphicFrameLocks noGrp="1"/>
          </p:cNvGraphicFramePr>
          <p:nvPr/>
        </p:nvGraphicFramePr>
        <p:xfrm>
          <a:off x="822960" y="2651760"/>
          <a:ext cx="10515600" cy="1920240"/>
        </p:xfrm>
        <a:graphic>
          <a:graphicData uri="http://schemas.openxmlformats.org/drawingml/2006/table">
            <a:tbl>
              <a:tblPr firstRow="1" bandRow="1">
                <a:tableStyleId>{5C22544A-7EE6-4342-B048-85BDC9FD1C3A}</a:tableStyleId>
              </a:tblPr>
              <a:tblGrid>
                <a:gridCol w="3108960"/>
                <a:gridCol w="7406640"/>
              </a:tblGrid>
              <a:tr h="384048">
                <a:tc>
                  <a:txBody>
                    <a:bodyPr/>
                    <a:lstStyle/>
                    <a:p>
                      <a:pPr algn="l"/>
                      <a:r>
                        <a:rPr sz="1300" b="1">
                          <a:solidFill>
                            <a:srgbClr val="8B96A8"/>
                          </a:solidFill>
                          <a:latin typeface="Segoe UI"/>
                        </a:rPr>
                        <a:t>Layer</a:t>
                      </a:r>
                    </a:p>
                  </a:txBody>
                  <a:tcPr marL="128016" marR="91440" anchor="ctr">
                    <a:solidFill>
                      <a:srgbClr val="161B25"/>
                    </a:solidFill>
                  </a:tcPr>
                </a:tc>
                <a:tc>
                  <a:txBody>
                    <a:bodyPr/>
                    <a:lstStyle/>
                    <a:p>
                      <a:pPr algn="l"/>
                      <a:r>
                        <a:rPr sz="1300" b="1">
                          <a:solidFill>
                            <a:srgbClr val="8B96A8"/>
                          </a:solidFill>
                          <a:latin typeface="Segoe UI"/>
                        </a:rPr>
                        <a:t>What it does</a:t>
                      </a:r>
                    </a:p>
                  </a:txBody>
                  <a:tcPr marL="128016" marR="91440" anchor="ctr">
                    <a:solidFill>
                      <a:srgbClr val="161B25"/>
                    </a:solidFill>
                  </a:tcPr>
                </a:tc>
              </a:tr>
              <a:tr h="384048">
                <a:tc>
                  <a:txBody>
                    <a:bodyPr/>
                    <a:lstStyle/>
                    <a:p>
                      <a:pPr algn="l"/>
                      <a:r>
                        <a:rPr sz="1300" b="0">
                          <a:solidFill>
                            <a:srgbClr val="E6EBF2"/>
                          </a:solidFill>
                          <a:latin typeface="Segoe UI"/>
                        </a:rPr>
                        <a:t>Encrypted at rest</a:t>
                      </a:r>
                    </a:p>
                  </a:txBody>
                  <a:tcPr marL="128016" marR="91440" anchor="ctr">
                    <a:solidFill>
                      <a:srgbClr val="0E1117"/>
                    </a:solidFill>
                  </a:tcPr>
                </a:tc>
                <a:tc>
                  <a:txBody>
                    <a:bodyPr/>
                    <a:lstStyle/>
                    <a:p>
                      <a:pPr algn="r"/>
                      <a:r>
                        <a:rPr sz="1300" b="0">
                          <a:solidFill>
                            <a:srgbClr val="E6EBF2"/>
                          </a:solidFill>
                          <a:latin typeface="Segoe UI"/>
                        </a:rPr>
                        <a:t>AES-256-SIV. Deterministic, so encrypted columns still filter and group.</a:t>
                      </a:r>
                    </a:p>
                  </a:txBody>
                  <a:tcPr marL="128016" marR="91440" anchor="ctr">
                    <a:solidFill>
                      <a:srgbClr val="0E1117"/>
                    </a:solidFill>
                  </a:tcPr>
                </a:tc>
              </a:tr>
              <a:tr h="384048">
                <a:tc>
                  <a:txBody>
                    <a:bodyPr/>
                    <a:lstStyle/>
                    <a:p>
                      <a:pPr algn="l"/>
                      <a:r>
                        <a:rPr sz="1300" b="0">
                          <a:solidFill>
                            <a:srgbClr val="E6EBF2"/>
                          </a:solidFill>
                          <a:latin typeface="Segoe UI"/>
                        </a:rPr>
                        <a:t>Decrypted once, at load</a:t>
                      </a:r>
                    </a:p>
                  </a:txBody>
                  <a:tcPr marL="128016" marR="91440" anchor="ctr">
                    <a:solidFill>
                      <a:srgbClr val="0E1117"/>
                    </a:solidFill>
                  </a:tcPr>
                </a:tc>
                <a:tc>
                  <a:txBody>
                    <a:bodyPr/>
                    <a:lstStyle/>
                    <a:p>
                      <a:pPr algn="r"/>
                      <a:r>
                        <a:rPr sz="1300" b="0">
                          <a:solidFill>
                            <a:srgbClr val="E6EBF2"/>
                          </a:solidFill>
                          <a:latin typeface="Segoe UI"/>
                        </a:rPr>
                        <a:t>Never at query time. Persisted views are pure SQL, so the connection stays read-only.</a:t>
                      </a:r>
                    </a:p>
                  </a:txBody>
                  <a:tcPr marL="128016" marR="91440" anchor="ctr">
                    <a:solidFill>
                      <a:srgbClr val="0E1117"/>
                    </a:solidFill>
                  </a:tcPr>
                </a:tc>
              </a:tr>
              <a:tr h="384048">
                <a:tc>
                  <a:txBody>
                    <a:bodyPr/>
                    <a:lstStyle/>
                    <a:p>
                      <a:pPr algn="l"/>
                      <a:r>
                        <a:rPr sz="1300" b="0">
                          <a:solidFill>
                            <a:srgbClr val="E6EBF2"/>
                          </a:solidFill>
                          <a:latin typeface="Segoe UI"/>
                        </a:rPr>
                        <a:t>Not in the query catalog</a:t>
                      </a:r>
                    </a:p>
                  </a:txBody>
                  <a:tcPr marL="128016" marR="91440" anchor="ctr">
                    <a:solidFill>
                      <a:srgbClr val="0E1117"/>
                    </a:solidFill>
                  </a:tcPr>
                </a:tc>
                <a:tc>
                  <a:txBody>
                    <a:bodyPr/>
                    <a:lstStyle/>
                    <a:p>
                      <a:pPr algn="r"/>
                      <a:r>
                        <a:rPr sz="1300" b="0">
                          <a:solidFill>
                            <a:srgbClr val="E6EBF2"/>
                          </a:solidFill>
                          <a:latin typeface="Segoe UI"/>
                        </a:rPr>
                        <a:t>account_number is exposed only masked; utr_number is not exposed at all.</a:t>
                      </a:r>
                    </a:p>
                  </a:txBody>
                  <a:tcPr marL="128016" marR="91440" anchor="ctr">
                    <a:solidFill>
                      <a:srgbClr val="0E1117"/>
                    </a:solidFill>
                  </a:tcPr>
                </a:tc>
              </a:tr>
              <a:tr h="384048">
                <a:tc>
                  <a:txBody>
                    <a:bodyPr/>
                    <a:lstStyle/>
                    <a:p>
                      <a:pPr algn="l"/>
                      <a:r>
                        <a:rPr sz="1300" b="0">
                          <a:solidFill>
                            <a:srgbClr val="E6EBF2"/>
                          </a:solidFill>
                          <a:latin typeface="Segoe UI"/>
                        </a:rPr>
                        <a:t>Refused at the planner</a:t>
                      </a:r>
                    </a:p>
                  </a:txBody>
                  <a:tcPr marL="128016" marR="91440" anchor="ctr">
                    <a:solidFill>
                      <a:srgbClr val="0E1117"/>
                    </a:solidFill>
                  </a:tcPr>
                </a:tc>
                <a:tc>
                  <a:txBody>
                    <a:bodyPr/>
                    <a:lstStyle/>
                    <a:p>
                      <a:pPr algn="r"/>
                      <a:r>
                        <a:rPr sz="1300" b="0">
                          <a:solidFill>
                            <a:srgbClr val="E6EBF2"/>
                          </a:solidFill>
                          <a:latin typeface="Segoe UI"/>
                        </a:rPr>
                        <a:t>"Show me the full UTR" returns a security refusal, not a query.</a:t>
                      </a:r>
                    </a:p>
                  </a:txBody>
                  <a:tcPr marL="128016" marR="91440" anchor="ctr">
                    <a:solidFill>
                      <a:srgbClr val="0E1117"/>
                    </a:solidFill>
                  </a:tcPr>
                </a:tc>
              </a:tr>
            </a:tbl>
          </a:graphicData>
        </a:graphic>
      </p:graphicFrame>
      <p:sp>
        <p:nvSpPr>
          <p:cNvPr id="7" name="Rectangle 6"/>
          <p:cNvSpPr/>
          <p:nvPr/>
        </p:nvSpPr>
        <p:spPr>
          <a:xfrm>
            <a:off x="822960" y="4846320"/>
            <a:ext cx="10515600" cy="1280160"/>
          </a:xfrm>
          <a:prstGeom prst="rect">
            <a:avLst/>
          </a:prstGeom>
          <a:solidFill>
            <a:srgbClr val="161B25"/>
          </a:solidFill>
          <a:ln w="12700">
            <a:solidFill>
              <a:srgbClr val="262E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4846320"/>
            <a:ext cx="45720" cy="1280160"/>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5047488"/>
            <a:ext cx="10058400" cy="365760"/>
          </a:xfrm>
          <a:prstGeom prst="rect">
            <a:avLst/>
          </a:prstGeom>
          <a:noFill/>
        </p:spPr>
        <p:txBody>
          <a:bodyPr wrap="square" anchor="t">
            <a:spAutoFit/>
          </a:bodyPr>
          <a:lstStyle/>
          <a:p>
            <a:pPr algn="l">
              <a:lnSpc>
                <a:spcPct val="125000"/>
              </a:lnSpc>
              <a:spcAft>
                <a:spcPts val="600"/>
              </a:spcAft>
            </a:pPr>
            <a:r>
              <a:rPr sz="1500" b="1">
                <a:solidFill>
                  <a:srgbClr val="E6EBF2"/>
                </a:solidFill>
                <a:latin typeface="Segoe UI"/>
              </a:rPr>
              <a:t>Why four layers and not one</a:t>
            </a:r>
          </a:p>
        </p:txBody>
      </p:sp>
      <p:sp>
        <p:nvSpPr>
          <p:cNvPr id="10" name="TextBox 9"/>
          <p:cNvSpPr txBox="1"/>
          <p:nvPr/>
        </p:nvSpPr>
        <p:spPr>
          <a:xfrm>
            <a:off x="1097280" y="5504688"/>
            <a:ext cx="10058400" cy="457200"/>
          </a:xfrm>
          <a:prstGeom prst="rect">
            <a:avLst/>
          </a:prstGeom>
          <a:noFill/>
        </p:spPr>
        <p:txBody>
          <a:bodyPr wrap="square" anchor="t">
            <a:spAutoFit/>
          </a:bodyPr>
          <a:lstStyle/>
          <a:p>
            <a:pPr algn="l">
              <a:lnSpc>
                <a:spcPct val="125000"/>
              </a:lnSpc>
              <a:spcAft>
                <a:spcPts val="600"/>
              </a:spcAft>
            </a:pPr>
            <a:r>
              <a:rPr sz="1250" b="0">
                <a:solidFill>
                  <a:srgbClr val="8B96A8"/>
                </a:solidFill>
                <a:latin typeface="Segoe UI"/>
              </a:rPr>
              <a:t>The planner refusal is the weakest of them, because it depends on the model behaving. The other three do not: even a model that explicitly asks for utr_number cannot get it, because the column is not in the catalog the SQL builder is allowed to name. There is a test that proves exactly this.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058400" cy="365760"/>
          </a:xfrm>
          <a:prstGeom prst="rect">
            <a:avLst/>
          </a:prstGeom>
          <a:noFill/>
        </p:spPr>
        <p:txBody>
          <a:bodyPr wrap="square" anchor="t">
            <a:spAutoFit/>
          </a:bodyPr>
          <a:lstStyle/>
          <a:p>
            <a:pPr algn="l">
              <a:lnSpc>
                <a:spcPct val="125000"/>
              </a:lnSpc>
              <a:spcAft>
                <a:spcPts val="600"/>
              </a:spcAft>
            </a:pPr>
            <a:r>
              <a:rPr sz="1200" b="1">
                <a:solidFill>
                  <a:srgbClr val="4ADE80"/>
                </a:solidFill>
                <a:latin typeface="Segoe UI"/>
              </a:rPr>
              <a:t>MODEL CHOICE</a:t>
            </a:r>
          </a:p>
        </p:txBody>
      </p:sp>
      <p:sp>
        <p:nvSpPr>
          <p:cNvPr id="4" name="TextBox 3"/>
          <p:cNvSpPr txBox="1"/>
          <p:nvPr/>
        </p:nvSpPr>
        <p:spPr>
          <a:xfrm>
            <a:off x="822960" y="914400"/>
            <a:ext cx="10515600" cy="914400"/>
          </a:xfrm>
          <a:prstGeom prst="rect">
            <a:avLst/>
          </a:prstGeom>
          <a:noFill/>
        </p:spPr>
        <p:txBody>
          <a:bodyPr wrap="square" anchor="t">
            <a:spAutoFit/>
          </a:bodyPr>
          <a:lstStyle/>
          <a:p>
            <a:pPr algn="l">
              <a:lnSpc>
                <a:spcPct val="125000"/>
              </a:lnSpc>
              <a:spcAft>
                <a:spcPts val="600"/>
              </a:spcAft>
            </a:pPr>
            <a:r>
              <a:rPr sz="3600" b="1">
                <a:solidFill>
                  <a:srgbClr val="E6EBF2"/>
                </a:solidFill>
                <a:latin typeface="Segoe UI"/>
              </a:rPr>
              <a:t>Qwen2.5-3B against a 20 B cap — and a 0-parameter tier that already passes</a:t>
            </a:r>
          </a:p>
        </p:txBody>
      </p:sp>
      <p:sp>
        <p:nvSpPr>
          <p:cNvPr id="5" name="TextBox 4"/>
          <p:cNvSpPr txBox="1"/>
          <p:nvPr/>
        </p:nvSpPr>
        <p:spPr>
          <a:xfrm>
            <a:off x="822960" y="1783080"/>
            <a:ext cx="10515600" cy="548640"/>
          </a:xfrm>
          <a:prstGeom prst="rect">
            <a:avLst/>
          </a:prstGeom>
          <a:noFill/>
        </p:spPr>
        <p:txBody>
          <a:bodyPr wrap="square" anchor="t">
            <a:spAutoFit/>
          </a:bodyPr>
          <a:lstStyle/>
          <a:p>
            <a:pPr algn="l">
              <a:lnSpc>
                <a:spcPct val="125000"/>
              </a:lnSpc>
              <a:spcAft>
                <a:spcPts val="600"/>
              </a:spcAft>
            </a:pPr>
            <a:r>
              <a:rPr sz="1700" b="0">
                <a:solidFill>
                  <a:srgbClr val="8B96A8"/>
                </a:solidFill>
                <a:latin typeface="Segoe UI"/>
              </a:rPr>
              <a:t>We got the accuracy from architecture, not from scale.</a:t>
            </a:r>
          </a:p>
        </p:txBody>
      </p:sp>
      <p:graphicFrame>
        <p:nvGraphicFramePr>
          <p:cNvPr id="6" name="Table 5"/>
          <p:cNvGraphicFramePr>
            <a:graphicFrameLocks noGrp="1"/>
          </p:cNvGraphicFramePr>
          <p:nvPr/>
        </p:nvGraphicFramePr>
        <p:xfrm>
          <a:off x="822960" y="2651760"/>
          <a:ext cx="10515600" cy="1536192"/>
        </p:xfrm>
        <a:graphic>
          <a:graphicData uri="http://schemas.openxmlformats.org/drawingml/2006/table">
            <a:tbl>
              <a:tblPr firstRow="1" bandRow="1">
                <a:tableStyleId>{5C22544A-7EE6-4342-B048-85BDC9FD1C3A}</a:tableStyleId>
              </a:tblPr>
              <a:tblGrid>
                <a:gridCol w="822960"/>
                <a:gridCol w="3840480"/>
                <a:gridCol w="3566160"/>
                <a:gridCol w="2286000"/>
              </a:tblGrid>
              <a:tr h="384048">
                <a:tc>
                  <a:txBody>
                    <a:bodyPr/>
                    <a:lstStyle/>
                    <a:p>
                      <a:pPr algn="l"/>
                      <a:r>
                        <a:rPr sz="1300" b="1">
                          <a:solidFill>
                            <a:srgbClr val="8B96A8"/>
                          </a:solidFill>
                          <a:latin typeface="Segoe UI"/>
                        </a:rPr>
                        <a:t>Tier</a:t>
                      </a:r>
                    </a:p>
                  </a:txBody>
                  <a:tcPr marL="128016" marR="91440" anchor="ctr">
                    <a:solidFill>
                      <a:srgbClr val="161B25"/>
                    </a:solidFill>
                  </a:tcPr>
                </a:tc>
                <a:tc>
                  <a:txBody>
                    <a:bodyPr/>
                    <a:lstStyle/>
                    <a:p>
                      <a:pPr algn="l"/>
                      <a:r>
                        <a:rPr sz="1300" b="1">
                          <a:solidFill>
                            <a:srgbClr val="8B96A8"/>
                          </a:solidFill>
                          <a:latin typeface="Segoe UI"/>
                        </a:rPr>
                        <a:t>What runs</a:t>
                      </a:r>
                    </a:p>
                  </a:txBody>
                  <a:tcPr marL="128016" marR="91440" anchor="ctr">
                    <a:solidFill>
                      <a:srgbClr val="161B25"/>
                    </a:solidFill>
                  </a:tcPr>
                </a:tc>
                <a:tc>
                  <a:txBody>
                    <a:bodyPr/>
                    <a:lstStyle/>
                    <a:p>
                      <a:pPr algn="l"/>
                      <a:r>
                        <a:rPr sz="1300" b="1">
                          <a:solidFill>
                            <a:srgbClr val="8B96A8"/>
                          </a:solidFill>
                          <a:latin typeface="Segoe UI"/>
                        </a:rPr>
                        <a:t>When</a:t>
                      </a:r>
                    </a:p>
                  </a:txBody>
                  <a:tcPr marL="128016" marR="91440" anchor="ctr">
                    <a:solidFill>
                      <a:srgbClr val="161B25"/>
                    </a:solidFill>
                  </a:tcPr>
                </a:tc>
                <a:tc>
                  <a:txBody>
                    <a:bodyPr/>
                    <a:lstStyle/>
                    <a:p>
                      <a:pPr algn="l"/>
                      <a:r>
                        <a:rPr sz="1300" b="1">
                          <a:solidFill>
                            <a:srgbClr val="8B96A8"/>
                          </a:solidFill>
                          <a:latin typeface="Segoe UI"/>
                        </a:rPr>
                        <a:t>Accuracy</a:t>
                      </a:r>
                    </a:p>
                  </a:txBody>
                  <a:tcPr marL="128016" marR="91440" anchor="ctr">
                    <a:solidFill>
                      <a:srgbClr val="161B25"/>
                    </a:solidFill>
                  </a:tcPr>
                </a:tc>
              </a:tr>
              <a:tr h="384048">
                <a:tc>
                  <a:txBody>
                    <a:bodyPr/>
                    <a:lstStyle/>
                    <a:p>
                      <a:pPr algn="l"/>
                      <a:r>
                        <a:rPr sz="1300" b="0">
                          <a:solidFill>
                            <a:srgbClr val="E6EBF2"/>
                          </a:solidFill>
                          <a:latin typeface="Segoe UI"/>
                        </a:rPr>
                        <a:t>1</a:t>
                      </a:r>
                    </a:p>
                  </a:txBody>
                  <a:tcPr marL="128016" marR="91440" anchor="ctr">
                    <a:solidFill>
                      <a:srgbClr val="0E1117"/>
                    </a:solidFill>
                  </a:tcPr>
                </a:tc>
                <a:tc>
                  <a:txBody>
                    <a:bodyPr/>
                    <a:lstStyle/>
                    <a:p>
                      <a:pPr algn="l"/>
                      <a:r>
                        <a:rPr sz="1300" b="0">
                          <a:solidFill>
                            <a:srgbClr val="E6EBF2"/>
                          </a:solidFill>
                          <a:latin typeface="Segoe UI"/>
                        </a:rPr>
                        <a:t>Qwen2.5-3B, JSON mode, temp 0</a:t>
                      </a:r>
                    </a:p>
                  </a:txBody>
                  <a:tcPr marL="128016" marR="91440" anchor="ctr">
                    <a:solidFill>
                      <a:srgbClr val="0E1117"/>
                    </a:solidFill>
                  </a:tcPr>
                </a:tc>
                <a:tc>
                  <a:txBody>
                    <a:bodyPr/>
                    <a:lstStyle/>
                    <a:p>
                      <a:pPr algn="l"/>
                      <a:r>
                        <a:rPr sz="1300" b="0">
                          <a:solidFill>
                            <a:srgbClr val="E6EBF2"/>
                          </a:solidFill>
                          <a:latin typeface="Segoe UI"/>
                        </a:rPr>
                        <a:t>Every question</a:t>
                      </a:r>
                    </a:p>
                  </a:txBody>
                  <a:tcPr marL="128016" marR="91440" anchor="ctr">
                    <a:solidFill>
                      <a:srgbClr val="0E1117"/>
                    </a:solidFill>
                  </a:tcPr>
                </a:tc>
                <a:tc>
                  <a:txBody>
                    <a:bodyPr/>
                    <a:lstStyle/>
                    <a:p>
                      <a:pPr algn="r"/>
                      <a:r>
                        <a:rPr sz="1300" b="0">
                          <a:solidFill>
                            <a:srgbClr val="E6EBF2"/>
                          </a:solidFill>
                          <a:latin typeface="Segoe UI"/>
                        </a:rPr>
                        <a:t>16/20</a:t>
                      </a:r>
                    </a:p>
                  </a:txBody>
                  <a:tcPr marL="128016" marR="91440" anchor="ctr">
                    <a:solidFill>
                      <a:srgbClr val="0E1117"/>
                    </a:solidFill>
                  </a:tcPr>
                </a:tc>
              </a:tr>
              <a:tr h="384048">
                <a:tc>
                  <a:txBody>
                    <a:bodyPr/>
                    <a:lstStyle/>
                    <a:p>
                      <a:pPr algn="l"/>
                      <a:r>
                        <a:rPr sz="1300" b="0">
                          <a:solidFill>
                            <a:srgbClr val="E6EBF2"/>
                          </a:solidFill>
                          <a:latin typeface="Segoe UI"/>
                        </a:rPr>
                        <a:t>2</a:t>
                      </a:r>
                    </a:p>
                  </a:txBody>
                  <a:tcPr marL="128016" marR="91440" anchor="ctr">
                    <a:solidFill>
                      <a:srgbClr val="0E1117"/>
                    </a:solidFill>
                  </a:tcPr>
                </a:tc>
                <a:tc>
                  <a:txBody>
                    <a:bodyPr/>
                    <a:lstStyle/>
                    <a:p>
                      <a:pPr algn="l"/>
                      <a:r>
                        <a:rPr sz="1300" b="0">
                          <a:solidFill>
                            <a:srgbClr val="E6EBF2"/>
                          </a:solidFill>
                          <a:latin typeface="Segoe UI"/>
                        </a:rPr>
                        <a:t>Same model, one repair round</a:t>
                      </a:r>
                    </a:p>
                  </a:txBody>
                  <a:tcPr marL="128016" marR="91440" anchor="ctr">
                    <a:solidFill>
                      <a:srgbClr val="0E1117"/>
                    </a:solidFill>
                  </a:tcPr>
                </a:tc>
                <a:tc>
                  <a:txBody>
                    <a:bodyPr/>
                    <a:lstStyle/>
                    <a:p>
                      <a:pPr algn="l"/>
                      <a:r>
                        <a:rPr sz="1300" b="0">
                          <a:solidFill>
                            <a:srgbClr val="E6EBF2"/>
                          </a:solidFill>
                          <a:latin typeface="Segoe UI"/>
                        </a:rPr>
                        <a:t>Plan fails validation</a:t>
                      </a:r>
                    </a:p>
                  </a:txBody>
                  <a:tcPr marL="128016" marR="91440" anchor="ctr">
                    <a:solidFill>
                      <a:srgbClr val="0E1117"/>
                    </a:solidFill>
                  </a:tcPr>
                </a:tc>
                <a:tc>
                  <a:txBody>
                    <a:bodyPr/>
                    <a:lstStyle/>
                    <a:p>
                      <a:pPr algn="r"/>
                      <a:r>
                        <a:rPr sz="1300" b="0">
                          <a:solidFill>
                            <a:srgbClr val="E6EBF2"/>
                          </a:solidFill>
                          <a:latin typeface="Segoe UI"/>
                        </a:rPr>
                        <a:t>—</a:t>
                      </a:r>
                    </a:p>
                  </a:txBody>
                  <a:tcPr marL="128016" marR="91440" anchor="ctr">
                    <a:solidFill>
                      <a:srgbClr val="0E1117"/>
                    </a:solidFill>
                  </a:tcPr>
                </a:tc>
              </a:tr>
              <a:tr h="384048">
                <a:tc>
                  <a:txBody>
                    <a:bodyPr/>
                    <a:lstStyle/>
                    <a:p>
                      <a:pPr algn="l"/>
                      <a:r>
                        <a:rPr sz="1300" b="0">
                          <a:solidFill>
                            <a:srgbClr val="E6EBF2"/>
                          </a:solidFill>
                          <a:latin typeface="Segoe UI"/>
                        </a:rPr>
                        <a:t>3</a:t>
                      </a:r>
                    </a:p>
                  </a:txBody>
                  <a:tcPr marL="128016" marR="91440" anchor="ctr">
                    <a:solidFill>
                      <a:srgbClr val="0E1117"/>
                    </a:solidFill>
                  </a:tcPr>
                </a:tc>
                <a:tc>
                  <a:txBody>
                    <a:bodyPr/>
                    <a:lstStyle/>
                    <a:p>
                      <a:pPr algn="l"/>
                      <a:r>
                        <a:rPr sz="1300" b="0">
                          <a:solidFill>
                            <a:srgbClr val="E6EBF2"/>
                          </a:solidFill>
                          <a:latin typeface="Segoe UI"/>
                        </a:rPr>
                        <a:t>Deterministic rule parser</a:t>
                      </a:r>
                    </a:p>
                  </a:txBody>
                  <a:tcPr marL="128016" marR="91440" anchor="ctr">
                    <a:solidFill>
                      <a:srgbClr val="0E1117"/>
                    </a:solidFill>
                  </a:tcPr>
                </a:tc>
                <a:tc>
                  <a:txBody>
                    <a:bodyPr/>
                    <a:lstStyle/>
                    <a:p>
                      <a:pPr algn="l"/>
                      <a:r>
                        <a:rPr sz="1300" b="0">
                          <a:solidFill>
                            <a:srgbClr val="E6EBF2"/>
                          </a:solidFill>
                          <a:latin typeface="Segoe UI"/>
                        </a:rPr>
                        <a:t>Model unreachable or invalid</a:t>
                      </a:r>
                    </a:p>
                  </a:txBody>
                  <a:tcPr marL="128016" marR="91440" anchor="ctr">
                    <a:solidFill>
                      <a:srgbClr val="0E1117"/>
                    </a:solidFill>
                  </a:tcPr>
                </a:tc>
                <a:tc>
                  <a:txBody>
                    <a:bodyPr/>
                    <a:lstStyle/>
                    <a:p>
                      <a:pPr algn="r"/>
                      <a:r>
                        <a:rPr sz="1300" b="0">
                          <a:solidFill>
                            <a:srgbClr val="E6EBF2"/>
                          </a:solidFill>
                          <a:latin typeface="Segoe UI"/>
                        </a:rPr>
                        <a:t>20/20</a:t>
                      </a:r>
                    </a:p>
                  </a:txBody>
                  <a:tcPr marL="128016" marR="91440" anchor="ctr">
                    <a:solidFill>
                      <a:srgbClr val="0E1117"/>
                    </a:solidFill>
                  </a:tcPr>
                </a:tc>
              </a:tr>
            </a:tbl>
          </a:graphicData>
        </a:graphic>
      </p:graphicFrame>
      <p:sp>
        <p:nvSpPr>
          <p:cNvPr id="7" name="TextBox 6"/>
          <p:cNvSpPr txBox="1"/>
          <p:nvPr/>
        </p:nvSpPr>
        <p:spPr>
          <a:xfrm>
            <a:off x="822960" y="4480560"/>
            <a:ext cx="10515600" cy="1280160"/>
          </a:xfrm>
          <a:prstGeom prst="rect">
            <a:avLst/>
          </a:prstGeom>
          <a:noFill/>
        </p:spPr>
        <p:txBody>
          <a:bodyPr wrap="square" anchor="t">
            <a:spAutoFit/>
          </a:bodyPr>
          <a:lstStyle/>
          <a:p>
            <a:pPr algn="l">
              <a:lnSpc>
                <a:spcPct val="130000"/>
              </a:lnSpc>
              <a:spcAft>
                <a:spcPts val="600"/>
              </a:spcAft>
            </a:pPr>
            <a:r>
              <a:rPr sz="1600" b="1">
                <a:solidFill>
                  <a:srgbClr val="E6EBF2"/>
                </a:solidFill>
                <a:latin typeface="Segoe UI"/>
              </a:rPr>
              <a:t>Tier 3 is not a stub — it scores full marks on its own.</a:t>
            </a:r>
          </a:p>
          <a:p>
            <a:pPr algn="l">
              <a:lnSpc>
                <a:spcPct val="130000"/>
              </a:lnSpc>
              <a:spcAft>
                <a:spcPts val="600"/>
              </a:spcAft>
            </a:pPr>
            <a:r>
              <a:rPr sz="1400" b="0">
                <a:solidFill>
                  <a:srgbClr val="8B96A8"/>
                </a:solidFill>
                <a:latin typeface="Segoe UI"/>
              </a:rPr>
              <a:t>That is the honest way to show how little of the accuracy comes from model scale. The LLM widens the range of phrasings we understand; it does not produce the numbers. If it goes down mid-demo, every question still answers correctly.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058400" cy="365760"/>
          </a:xfrm>
          <a:prstGeom prst="rect">
            <a:avLst/>
          </a:prstGeom>
          <a:noFill/>
        </p:spPr>
        <p:txBody>
          <a:bodyPr wrap="square" anchor="t">
            <a:spAutoFit/>
          </a:bodyPr>
          <a:lstStyle/>
          <a:p>
            <a:pPr algn="l">
              <a:lnSpc>
                <a:spcPct val="125000"/>
              </a:lnSpc>
              <a:spcAft>
                <a:spcPts val="600"/>
              </a:spcAft>
            </a:pPr>
            <a:r>
              <a:rPr sz="1200" b="1">
                <a:solidFill>
                  <a:srgbClr val="4ADE80"/>
                </a:solidFill>
                <a:latin typeface="Segoe UI"/>
              </a:rPr>
              <a:t>MEASURED, NOT CLAIMED</a:t>
            </a:r>
          </a:p>
        </p:txBody>
      </p:sp>
      <p:sp>
        <p:nvSpPr>
          <p:cNvPr id="4" name="TextBox 3"/>
          <p:cNvSpPr txBox="1"/>
          <p:nvPr/>
        </p:nvSpPr>
        <p:spPr>
          <a:xfrm>
            <a:off x="822960" y="914400"/>
            <a:ext cx="10515600" cy="914400"/>
          </a:xfrm>
          <a:prstGeom prst="rect">
            <a:avLst/>
          </a:prstGeom>
          <a:noFill/>
        </p:spPr>
        <p:txBody>
          <a:bodyPr wrap="square" anchor="t">
            <a:spAutoFit/>
          </a:bodyPr>
          <a:lstStyle/>
          <a:p>
            <a:pPr algn="l">
              <a:lnSpc>
                <a:spcPct val="125000"/>
              </a:lnSpc>
              <a:spcAft>
                <a:spcPts val="600"/>
              </a:spcAft>
            </a:pPr>
            <a:r>
              <a:rPr sz="3600" b="1">
                <a:solidFill>
                  <a:srgbClr val="E6EBF2"/>
                </a:solidFill>
                <a:latin typeface="Segoe UI"/>
              </a:rPr>
              <a:t>Accuracy and scale</a:t>
            </a:r>
          </a:p>
        </p:txBody>
      </p:sp>
      <p:sp>
        <p:nvSpPr>
          <p:cNvPr id="5" name="TextBox 4"/>
          <p:cNvSpPr txBox="1"/>
          <p:nvPr/>
        </p:nvSpPr>
        <p:spPr>
          <a:xfrm>
            <a:off x="822960" y="2286000"/>
            <a:ext cx="2377440" cy="731520"/>
          </a:xfrm>
          <a:prstGeom prst="rect">
            <a:avLst/>
          </a:prstGeom>
          <a:noFill/>
        </p:spPr>
        <p:txBody>
          <a:bodyPr wrap="square" anchor="t">
            <a:spAutoFit/>
          </a:bodyPr>
          <a:lstStyle/>
          <a:p>
            <a:pPr algn="ctr">
              <a:lnSpc>
                <a:spcPct val="125000"/>
              </a:lnSpc>
              <a:spcAft>
                <a:spcPts val="600"/>
              </a:spcAft>
            </a:pPr>
            <a:r>
              <a:rPr sz="4000" b="1">
                <a:solidFill>
                  <a:srgbClr val="4ADE80"/>
                </a:solidFill>
                <a:latin typeface="Segoe UI"/>
              </a:rPr>
              <a:t>20/20</a:t>
            </a:r>
          </a:p>
        </p:txBody>
      </p:sp>
      <p:sp>
        <p:nvSpPr>
          <p:cNvPr id="6" name="TextBox 5"/>
          <p:cNvSpPr txBox="1"/>
          <p:nvPr/>
        </p:nvSpPr>
        <p:spPr>
          <a:xfrm>
            <a:off x="822960" y="3063240"/>
            <a:ext cx="2377440" cy="548640"/>
          </a:xfrm>
          <a:prstGeom prst="rect">
            <a:avLst/>
          </a:prstGeom>
          <a:noFill/>
        </p:spPr>
        <p:txBody>
          <a:bodyPr wrap="square" anchor="t">
            <a:spAutoFit/>
          </a:bodyPr>
          <a:lstStyle/>
          <a:p>
            <a:pPr algn="ctr">
              <a:lnSpc>
                <a:spcPct val="125000"/>
              </a:lnSpc>
              <a:spcAft>
                <a:spcPts val="600"/>
              </a:spcAft>
            </a:pPr>
            <a:r>
              <a:rPr sz="1250" b="0">
                <a:solidFill>
                  <a:srgbClr val="8B96A8"/>
                </a:solidFill>
                <a:latin typeface="Segoe UI"/>
              </a:rPr>
              <a:t>benchmark vs ground-truth SQL</a:t>
            </a:r>
          </a:p>
        </p:txBody>
      </p:sp>
      <p:sp>
        <p:nvSpPr>
          <p:cNvPr id="7" name="TextBox 6"/>
          <p:cNvSpPr txBox="1"/>
          <p:nvPr/>
        </p:nvSpPr>
        <p:spPr>
          <a:xfrm>
            <a:off x="3383280" y="2286000"/>
            <a:ext cx="2377440" cy="731520"/>
          </a:xfrm>
          <a:prstGeom prst="rect">
            <a:avLst/>
          </a:prstGeom>
          <a:noFill/>
        </p:spPr>
        <p:txBody>
          <a:bodyPr wrap="square" anchor="t">
            <a:spAutoFit/>
          </a:bodyPr>
          <a:lstStyle/>
          <a:p>
            <a:pPr algn="ctr">
              <a:lnSpc>
                <a:spcPct val="125000"/>
              </a:lnSpc>
              <a:spcAft>
                <a:spcPts val="600"/>
              </a:spcAft>
            </a:pPr>
            <a:r>
              <a:rPr sz="4000" b="1">
                <a:solidFill>
                  <a:srgbClr val="60A5FA"/>
                </a:solidFill>
                <a:latin typeface="Segoe UI"/>
              </a:rPr>
              <a:t>14/14</a:t>
            </a:r>
          </a:p>
        </p:txBody>
      </p:sp>
      <p:sp>
        <p:nvSpPr>
          <p:cNvPr id="8" name="TextBox 7"/>
          <p:cNvSpPr txBox="1"/>
          <p:nvPr/>
        </p:nvSpPr>
        <p:spPr>
          <a:xfrm>
            <a:off x="3383280" y="3063240"/>
            <a:ext cx="2377440" cy="548640"/>
          </a:xfrm>
          <a:prstGeom prst="rect">
            <a:avLst/>
          </a:prstGeom>
          <a:noFill/>
        </p:spPr>
        <p:txBody>
          <a:bodyPr wrap="square" anchor="t">
            <a:spAutoFit/>
          </a:bodyPr>
          <a:lstStyle/>
          <a:p>
            <a:pPr algn="ctr">
              <a:lnSpc>
                <a:spcPct val="125000"/>
              </a:lnSpc>
              <a:spcAft>
                <a:spcPts val="600"/>
              </a:spcAft>
            </a:pPr>
            <a:r>
              <a:rPr sz="1250" b="0">
                <a:solidFill>
                  <a:srgbClr val="8B96A8"/>
                </a:solidFill>
                <a:latin typeface="Segoe UI"/>
              </a:rPr>
              <a:t>anti-hallucination checks</a:t>
            </a:r>
          </a:p>
        </p:txBody>
      </p:sp>
      <p:sp>
        <p:nvSpPr>
          <p:cNvPr id="9" name="TextBox 8"/>
          <p:cNvSpPr txBox="1"/>
          <p:nvPr/>
        </p:nvSpPr>
        <p:spPr>
          <a:xfrm>
            <a:off x="5943600" y="2286000"/>
            <a:ext cx="2377440" cy="731520"/>
          </a:xfrm>
          <a:prstGeom prst="rect">
            <a:avLst/>
          </a:prstGeom>
          <a:noFill/>
        </p:spPr>
        <p:txBody>
          <a:bodyPr wrap="square" anchor="t">
            <a:spAutoFit/>
          </a:bodyPr>
          <a:lstStyle/>
          <a:p>
            <a:pPr algn="ctr">
              <a:lnSpc>
                <a:spcPct val="125000"/>
              </a:lnSpc>
              <a:spcAft>
                <a:spcPts val="600"/>
              </a:spcAft>
            </a:pPr>
            <a:r>
              <a:rPr sz="4000" b="1">
                <a:solidFill>
                  <a:srgbClr val="60A5FA"/>
                </a:solidFill>
                <a:latin typeface="Segoe UI"/>
              </a:rPr>
              <a:t>401 ms</a:t>
            </a:r>
          </a:p>
        </p:txBody>
      </p:sp>
      <p:sp>
        <p:nvSpPr>
          <p:cNvPr id="10" name="TextBox 9"/>
          <p:cNvSpPr txBox="1"/>
          <p:nvPr/>
        </p:nvSpPr>
        <p:spPr>
          <a:xfrm>
            <a:off x="5943600" y="3063240"/>
            <a:ext cx="2377440" cy="548640"/>
          </a:xfrm>
          <a:prstGeom prst="rect">
            <a:avLst/>
          </a:prstGeom>
          <a:noFill/>
        </p:spPr>
        <p:txBody>
          <a:bodyPr wrap="square" anchor="t">
            <a:spAutoFit/>
          </a:bodyPr>
          <a:lstStyle/>
          <a:p>
            <a:pPr algn="ctr">
              <a:lnSpc>
                <a:spcPct val="125000"/>
              </a:lnSpc>
              <a:spcAft>
                <a:spcPts val="600"/>
              </a:spcAft>
            </a:pPr>
            <a:r>
              <a:rPr sz="1250" b="0">
                <a:solidFill>
                  <a:srgbClr val="8B96A8"/>
                </a:solidFill>
                <a:latin typeface="Segoe UI"/>
              </a:rPr>
              <a:t>end to end at 20,000,000 rows</a:t>
            </a:r>
          </a:p>
        </p:txBody>
      </p:sp>
      <p:sp>
        <p:nvSpPr>
          <p:cNvPr id="11" name="TextBox 10"/>
          <p:cNvSpPr txBox="1"/>
          <p:nvPr/>
        </p:nvSpPr>
        <p:spPr>
          <a:xfrm>
            <a:off x="8503920" y="2286000"/>
            <a:ext cx="2377440" cy="731520"/>
          </a:xfrm>
          <a:prstGeom prst="rect">
            <a:avLst/>
          </a:prstGeom>
          <a:noFill/>
        </p:spPr>
        <p:txBody>
          <a:bodyPr wrap="square" anchor="t">
            <a:spAutoFit/>
          </a:bodyPr>
          <a:lstStyle/>
          <a:p>
            <a:pPr algn="ctr">
              <a:lnSpc>
                <a:spcPct val="125000"/>
              </a:lnSpc>
              <a:spcAft>
                <a:spcPts val="600"/>
              </a:spcAft>
            </a:pPr>
            <a:r>
              <a:rPr sz="4000" b="1">
                <a:solidFill>
                  <a:srgbClr val="FBBF24"/>
                </a:solidFill>
                <a:latin typeface="Segoe UI"/>
              </a:rPr>
              <a:t>3 B</a:t>
            </a:r>
          </a:p>
        </p:txBody>
      </p:sp>
      <p:sp>
        <p:nvSpPr>
          <p:cNvPr id="12" name="TextBox 11"/>
          <p:cNvSpPr txBox="1"/>
          <p:nvPr/>
        </p:nvSpPr>
        <p:spPr>
          <a:xfrm>
            <a:off x="8503920" y="3063240"/>
            <a:ext cx="2377440" cy="548640"/>
          </a:xfrm>
          <a:prstGeom prst="rect">
            <a:avLst/>
          </a:prstGeom>
          <a:noFill/>
        </p:spPr>
        <p:txBody>
          <a:bodyPr wrap="square" anchor="t">
            <a:spAutoFit/>
          </a:bodyPr>
          <a:lstStyle/>
          <a:p>
            <a:pPr algn="ctr">
              <a:lnSpc>
                <a:spcPct val="125000"/>
              </a:lnSpc>
              <a:spcAft>
                <a:spcPts val="600"/>
              </a:spcAft>
            </a:pPr>
            <a:r>
              <a:rPr sz="1250" b="0">
                <a:solidFill>
                  <a:srgbClr val="8B96A8"/>
                </a:solidFill>
                <a:latin typeface="Segoe UI"/>
              </a:rPr>
              <a:t>parameters (cap 20 B)</a:t>
            </a:r>
          </a:p>
        </p:txBody>
      </p:sp>
      <p:graphicFrame>
        <p:nvGraphicFramePr>
          <p:cNvPr id="13" name="Table 12"/>
          <p:cNvGraphicFramePr>
            <a:graphicFrameLocks noGrp="1"/>
          </p:cNvGraphicFramePr>
          <p:nvPr/>
        </p:nvGraphicFramePr>
        <p:xfrm>
          <a:off x="822960" y="4023360"/>
          <a:ext cx="5943600" cy="2304288"/>
        </p:xfrm>
        <a:graphic>
          <a:graphicData uri="http://schemas.openxmlformats.org/drawingml/2006/table">
            <a:tbl>
              <a:tblPr firstRow="1" bandRow="1">
                <a:tableStyleId>{5C22544A-7EE6-4342-B048-85BDC9FD1C3A}</a:tableStyleId>
              </a:tblPr>
              <a:tblGrid>
                <a:gridCol w="4206240"/>
                <a:gridCol w="1737360"/>
              </a:tblGrid>
              <a:tr h="384048">
                <a:tc>
                  <a:txBody>
                    <a:bodyPr/>
                    <a:lstStyle/>
                    <a:p>
                      <a:pPr algn="l"/>
                      <a:r>
                        <a:rPr sz="1300" b="1">
                          <a:solidFill>
                            <a:srgbClr val="8B96A8"/>
                          </a:solidFill>
                          <a:latin typeface="Segoe UI"/>
                        </a:rPr>
                        <a:t>At the 20 M-record test limit</a:t>
                      </a:r>
                    </a:p>
                  </a:txBody>
                  <a:tcPr marL="128016" marR="91440" anchor="ctr">
                    <a:solidFill>
                      <a:srgbClr val="161B25"/>
                    </a:solidFill>
                  </a:tcPr>
                </a:tc>
                <a:tc>
                  <a:txBody>
                    <a:bodyPr/>
                    <a:lstStyle/>
                    <a:p>
                      <a:pPr algn="l"/>
                    </a:p>
                  </a:txBody>
                  <a:tcPr marL="128016" marR="91440" anchor="ctr">
                    <a:solidFill>
                      <a:srgbClr val="161B25"/>
                    </a:solidFill>
                  </a:tcPr>
                </a:tc>
              </a:tr>
              <a:tr h="384048">
                <a:tc>
                  <a:txBody>
                    <a:bodyPr/>
                    <a:lstStyle/>
                    <a:p>
                      <a:pPr algn="l"/>
                      <a:r>
                        <a:rPr sz="1300" b="0">
                          <a:solidFill>
                            <a:srgbClr val="E6EBF2"/>
                          </a:solidFill>
                          <a:latin typeface="Segoe UI"/>
                        </a:rPr>
                        <a:t>Database file</a:t>
                      </a:r>
                    </a:p>
                  </a:txBody>
                  <a:tcPr marL="128016" marR="91440" anchor="ctr">
                    <a:solidFill>
                      <a:srgbClr val="0E1117"/>
                    </a:solidFill>
                  </a:tcPr>
                </a:tc>
                <a:tc>
                  <a:txBody>
                    <a:bodyPr/>
                    <a:lstStyle/>
                    <a:p>
                      <a:pPr algn="r"/>
                      <a:r>
                        <a:rPr sz="1300" b="0">
                          <a:solidFill>
                            <a:srgbClr val="E6EBF2"/>
                          </a:solidFill>
                          <a:latin typeface="Segoe UI"/>
                        </a:rPr>
                        <a:t>3.89 GB</a:t>
                      </a:r>
                    </a:p>
                  </a:txBody>
                  <a:tcPr marL="128016" marR="91440" anchor="ctr">
                    <a:solidFill>
                      <a:srgbClr val="0E1117"/>
                    </a:solidFill>
                  </a:tcPr>
                </a:tc>
              </a:tr>
              <a:tr h="384048">
                <a:tc>
                  <a:txBody>
                    <a:bodyPr/>
                    <a:lstStyle/>
                    <a:p>
                      <a:pPr algn="l"/>
                      <a:r>
                        <a:rPr sz="1300" b="0">
                          <a:solidFill>
                            <a:srgbClr val="E6EBF2"/>
                          </a:solidFill>
                          <a:latin typeface="Segoe UI"/>
                        </a:rPr>
                        <a:t>One-off build: generate, derive, index</a:t>
                      </a:r>
                    </a:p>
                  </a:txBody>
                  <a:tcPr marL="128016" marR="91440" anchor="ctr">
                    <a:solidFill>
                      <a:srgbClr val="0E1117"/>
                    </a:solidFill>
                  </a:tcPr>
                </a:tc>
                <a:tc>
                  <a:txBody>
                    <a:bodyPr/>
                    <a:lstStyle/>
                    <a:p>
                      <a:pPr algn="r"/>
                      <a:r>
                        <a:rPr sz="1300" b="0">
                          <a:solidFill>
                            <a:srgbClr val="E6EBF2"/>
                          </a:solidFill>
                          <a:latin typeface="Segoe UI"/>
                        </a:rPr>
                        <a:t>409 s</a:t>
                      </a:r>
                    </a:p>
                  </a:txBody>
                  <a:tcPr marL="128016" marR="91440" anchor="ctr">
                    <a:solidFill>
                      <a:srgbClr val="0E1117"/>
                    </a:solidFill>
                  </a:tcPr>
                </a:tc>
              </a:tr>
              <a:tr h="384048">
                <a:tc>
                  <a:txBody>
                    <a:bodyPr/>
                    <a:lstStyle/>
                    <a:p>
                      <a:pPr algn="l"/>
                      <a:r>
                        <a:rPr sz="1300" b="0">
                          <a:solidFill>
                            <a:srgbClr val="E6EBF2"/>
                          </a:solidFill>
                          <a:latin typeface="Segoe UI"/>
                        </a:rPr>
                        <a:t>Single-month aggregate</a:t>
                      </a:r>
                    </a:p>
                  </a:txBody>
                  <a:tcPr marL="128016" marR="91440" anchor="ctr">
                    <a:solidFill>
                      <a:srgbClr val="0E1117"/>
                    </a:solidFill>
                  </a:tcPr>
                </a:tc>
                <a:tc>
                  <a:txBody>
                    <a:bodyPr/>
                    <a:lstStyle/>
                    <a:p>
                      <a:pPr algn="r"/>
                      <a:r>
                        <a:rPr sz="1300" b="0">
                          <a:solidFill>
                            <a:srgbClr val="E6EBF2"/>
                          </a:solidFill>
                          <a:latin typeface="Segoe UI"/>
                        </a:rPr>
                        <a:t>46 ms</a:t>
                      </a:r>
                    </a:p>
                  </a:txBody>
                  <a:tcPr marL="128016" marR="91440" anchor="ctr">
                    <a:solidFill>
                      <a:srgbClr val="0E1117"/>
                    </a:solidFill>
                  </a:tcPr>
                </a:tc>
              </a:tr>
              <a:tr h="384048">
                <a:tc>
                  <a:txBody>
                    <a:bodyPr/>
                    <a:lstStyle/>
                    <a:p>
                      <a:pPr algn="l"/>
                      <a:r>
                        <a:rPr sz="1300" b="0">
                          <a:solidFill>
                            <a:srgbClr val="E6EBF2"/>
                          </a:solidFill>
                          <a:latin typeface="Segoe UI"/>
                        </a:rPr>
                        <a:t>End-to-end, question to answer</a:t>
                      </a:r>
                    </a:p>
                  </a:txBody>
                  <a:tcPr marL="128016" marR="91440" anchor="ctr">
                    <a:solidFill>
                      <a:srgbClr val="0E1117"/>
                    </a:solidFill>
                  </a:tcPr>
                </a:tc>
                <a:tc>
                  <a:txBody>
                    <a:bodyPr/>
                    <a:lstStyle/>
                    <a:p>
                      <a:pPr algn="r"/>
                      <a:r>
                        <a:rPr sz="1300" b="0">
                          <a:solidFill>
                            <a:srgbClr val="E6EBF2"/>
                          </a:solidFill>
                          <a:latin typeface="Segoe UI"/>
                        </a:rPr>
                        <a:t>401 ms</a:t>
                      </a:r>
                    </a:p>
                  </a:txBody>
                  <a:tcPr marL="128016" marR="91440" anchor="ctr">
                    <a:solidFill>
                      <a:srgbClr val="0E1117"/>
                    </a:solidFill>
                  </a:tcPr>
                </a:tc>
              </a:tr>
              <a:tr h="384048">
                <a:tc>
                  <a:txBody>
                    <a:bodyPr/>
                    <a:lstStyle/>
                    <a:p>
                      <a:pPr algn="l"/>
                      <a:r>
                        <a:rPr sz="1300" b="0">
                          <a:solidFill>
                            <a:srgbClr val="E6EBF2"/>
                          </a:solidFill>
                          <a:latin typeface="Segoe UI"/>
                        </a:rPr>
                        <a:t>Accuracy at 20 M vs 250 k</a:t>
                      </a:r>
                    </a:p>
                  </a:txBody>
                  <a:tcPr marL="128016" marR="91440" anchor="ctr">
                    <a:solidFill>
                      <a:srgbClr val="0E1117"/>
                    </a:solidFill>
                  </a:tcPr>
                </a:tc>
                <a:tc>
                  <a:txBody>
                    <a:bodyPr/>
                    <a:lstStyle/>
                    <a:p>
                      <a:pPr algn="r"/>
                      <a:r>
                        <a:rPr sz="1300" b="0">
                          <a:solidFill>
                            <a:srgbClr val="E6EBF2"/>
                          </a:solidFill>
                          <a:latin typeface="Segoe UI"/>
                        </a:rPr>
                        <a:t>20/20 — unchanged</a:t>
                      </a:r>
                    </a:p>
                  </a:txBody>
                  <a:tcPr marL="128016" marR="91440" anchor="ctr">
                    <a:solidFill>
                      <a:srgbClr val="0E1117"/>
                    </a:solidFill>
                  </a:tcPr>
                </a:tc>
              </a:tr>
            </a:tbl>
          </a:graphicData>
        </a:graphic>
      </p:graphicFrame>
      <p:sp>
        <p:nvSpPr>
          <p:cNvPr id="14" name="Rectangle 13"/>
          <p:cNvSpPr/>
          <p:nvPr/>
        </p:nvSpPr>
        <p:spPr>
          <a:xfrm>
            <a:off x="7223760" y="4023360"/>
            <a:ext cx="4114800" cy="2286000"/>
          </a:xfrm>
          <a:prstGeom prst="rect">
            <a:avLst/>
          </a:prstGeom>
          <a:solidFill>
            <a:srgbClr val="161B25"/>
          </a:solidFill>
          <a:ln w="12700">
            <a:solidFill>
              <a:srgbClr val="262E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223760" y="4023360"/>
            <a:ext cx="45720" cy="228600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0" y="4224528"/>
            <a:ext cx="3657600" cy="365760"/>
          </a:xfrm>
          <a:prstGeom prst="rect">
            <a:avLst/>
          </a:prstGeom>
          <a:noFill/>
        </p:spPr>
        <p:txBody>
          <a:bodyPr wrap="square" anchor="t">
            <a:spAutoFit/>
          </a:bodyPr>
          <a:lstStyle/>
          <a:p>
            <a:pPr algn="l">
              <a:lnSpc>
                <a:spcPct val="125000"/>
              </a:lnSpc>
              <a:spcAft>
                <a:spcPts val="600"/>
              </a:spcAft>
            </a:pPr>
            <a:r>
              <a:rPr sz="1500" b="1">
                <a:solidFill>
                  <a:srgbClr val="E6EBF2"/>
                </a:solidFill>
                <a:latin typeface="Segoe UI"/>
              </a:rPr>
              <a:t>Derived, not invented</a:t>
            </a:r>
          </a:p>
        </p:txBody>
      </p:sp>
      <p:sp>
        <p:nvSpPr>
          <p:cNvPr id="17" name="TextBox 16"/>
          <p:cNvSpPr txBox="1"/>
          <p:nvPr/>
        </p:nvSpPr>
        <p:spPr>
          <a:xfrm>
            <a:off x="7498080" y="4681728"/>
            <a:ext cx="3657600" cy="1463040"/>
          </a:xfrm>
          <a:prstGeom prst="rect">
            <a:avLst/>
          </a:prstGeom>
          <a:noFill/>
        </p:spPr>
        <p:txBody>
          <a:bodyPr wrap="square" anchor="t">
            <a:spAutoFit/>
          </a:bodyPr>
          <a:lstStyle/>
          <a:p>
            <a:pPr algn="l">
              <a:lnSpc>
                <a:spcPct val="125000"/>
              </a:lnSpc>
              <a:spcAft>
                <a:spcPts val="600"/>
              </a:spcAft>
            </a:pPr>
            <a:r>
              <a:rPr sz="1250" b="0">
                <a:solidFill>
                  <a:srgbClr val="8B96A8"/>
                </a:solidFill>
                <a:latin typeface="Segoe UI"/>
              </a:rPr>
              <a:t>The schema has no counterparty and no reconciliation column. Both are derived from real columns with one documented definition — and the assistant states that definition in every answer that uses it. All 10 production sample narrations parse correctly.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058400" cy="365760"/>
          </a:xfrm>
          <a:prstGeom prst="rect">
            <a:avLst/>
          </a:prstGeom>
          <a:noFill/>
        </p:spPr>
        <p:txBody>
          <a:bodyPr wrap="square" anchor="t">
            <a:spAutoFit/>
          </a:bodyPr>
          <a:lstStyle/>
          <a:p>
            <a:pPr algn="l">
              <a:lnSpc>
                <a:spcPct val="125000"/>
              </a:lnSpc>
              <a:spcAft>
                <a:spcPts val="600"/>
              </a:spcAft>
            </a:pPr>
            <a:r>
              <a:rPr sz="1200" b="1">
                <a:solidFill>
                  <a:srgbClr val="4ADE80"/>
                </a:solidFill>
                <a:latin typeface="Segoe UI"/>
              </a:rPr>
              <a:t>DEMO</a:t>
            </a:r>
          </a:p>
        </p:txBody>
      </p:sp>
      <p:sp>
        <p:nvSpPr>
          <p:cNvPr id="4" name="TextBox 3"/>
          <p:cNvSpPr txBox="1"/>
          <p:nvPr/>
        </p:nvSpPr>
        <p:spPr>
          <a:xfrm>
            <a:off x="822960" y="914400"/>
            <a:ext cx="10515600" cy="914400"/>
          </a:xfrm>
          <a:prstGeom prst="rect">
            <a:avLst/>
          </a:prstGeom>
          <a:noFill/>
        </p:spPr>
        <p:txBody>
          <a:bodyPr wrap="square" anchor="t">
            <a:spAutoFit/>
          </a:bodyPr>
          <a:lstStyle/>
          <a:p>
            <a:pPr algn="l">
              <a:lnSpc>
                <a:spcPct val="125000"/>
              </a:lnSpc>
              <a:spcAft>
                <a:spcPts val="600"/>
              </a:spcAft>
            </a:pPr>
            <a:r>
              <a:rPr sz="3600" b="1">
                <a:solidFill>
                  <a:srgbClr val="E6EBF2"/>
                </a:solidFill>
                <a:latin typeface="Segoe UI"/>
              </a:rPr>
              <a:t>Five moments, four minutes</a:t>
            </a:r>
          </a:p>
        </p:txBody>
      </p:sp>
      <p:sp>
        <p:nvSpPr>
          <p:cNvPr id="5" name="TextBox 4"/>
          <p:cNvSpPr txBox="1"/>
          <p:nvPr/>
        </p:nvSpPr>
        <p:spPr>
          <a:xfrm>
            <a:off x="822960" y="2377440"/>
            <a:ext cx="10515600" cy="502920"/>
          </a:xfrm>
          <a:prstGeom prst="rect">
            <a:avLst/>
          </a:prstGeom>
          <a:noFill/>
        </p:spPr>
        <p:txBody>
          <a:bodyPr wrap="square">
            <a:spAutoFit/>
          </a:bodyPr>
          <a:lstStyle/>
          <a:p>
            <a:r>
              <a:rPr sz="1500">
                <a:solidFill>
                  <a:srgbClr val="4ADE80"/>
                </a:solidFill>
                <a:latin typeface="Segoe UI"/>
              </a:rPr>
              <a:t>—  </a:t>
            </a:r>
            <a:r>
              <a:rPr b="1" sz="1500">
                <a:solidFill>
                  <a:srgbClr val="E6EBF2"/>
                </a:solidFill>
                <a:latin typeface="Segoe UI"/>
              </a:rPr>
              <a:t>1.  "How much did we pay out last month?"  </a:t>
            </a:r>
            <a:r>
              <a:rPr sz="1500">
                <a:solidFill>
                  <a:srgbClr val="8B96A8"/>
                </a:solidFill>
                <a:latin typeface="Segoe UI"/>
              </a:rPr>
              <a:t>Then open "How I got this answer": the plan the model wrote, the SQL we built, the source records.</a:t>
            </a:r>
          </a:p>
        </p:txBody>
      </p:sp>
      <p:sp>
        <p:nvSpPr>
          <p:cNvPr id="6" name="TextBox 5"/>
          <p:cNvSpPr txBox="1"/>
          <p:nvPr/>
        </p:nvSpPr>
        <p:spPr>
          <a:xfrm>
            <a:off x="822960" y="3035808"/>
            <a:ext cx="10515600" cy="502920"/>
          </a:xfrm>
          <a:prstGeom prst="rect">
            <a:avLst/>
          </a:prstGeom>
          <a:noFill/>
        </p:spPr>
        <p:txBody>
          <a:bodyPr wrap="square">
            <a:spAutoFit/>
          </a:bodyPr>
          <a:lstStyle/>
          <a:p>
            <a:r>
              <a:rPr sz="1500">
                <a:solidFill>
                  <a:srgbClr val="4ADE80"/>
                </a:solidFill>
                <a:latin typeface="Segoe UI"/>
              </a:rPr>
              <a:t>—  </a:t>
            </a:r>
            <a:r>
              <a:rPr b="1" sz="1500">
                <a:solidFill>
                  <a:srgbClr val="E6EBF2"/>
                </a:solidFill>
                <a:latin typeface="Segoe UI"/>
              </a:rPr>
              <a:t>2.  "How does that compare to the month before?"  </a:t>
            </a:r>
            <a:r>
              <a:rPr sz="1500">
                <a:solidFill>
                  <a:srgbClr val="8B96A8"/>
                </a:solidFill>
                <a:latin typeface="Segoe UI"/>
              </a:rPr>
              <a:t>No context repeated. Multi-turn carries the previous plan forward.</a:t>
            </a:r>
          </a:p>
        </p:txBody>
      </p:sp>
      <p:sp>
        <p:nvSpPr>
          <p:cNvPr id="7" name="TextBox 6"/>
          <p:cNvSpPr txBox="1"/>
          <p:nvPr/>
        </p:nvSpPr>
        <p:spPr>
          <a:xfrm>
            <a:off x="822960" y="3694176"/>
            <a:ext cx="10515600" cy="502920"/>
          </a:xfrm>
          <a:prstGeom prst="rect">
            <a:avLst/>
          </a:prstGeom>
          <a:noFill/>
        </p:spPr>
        <p:txBody>
          <a:bodyPr wrap="square">
            <a:spAutoFit/>
          </a:bodyPr>
          <a:lstStyle/>
          <a:p>
            <a:r>
              <a:rPr sz="1500">
                <a:solidFill>
                  <a:srgbClr val="4ADE80"/>
                </a:solidFill>
                <a:latin typeface="Segoe UI"/>
              </a:rPr>
              <a:t>—  </a:t>
            </a:r>
            <a:r>
              <a:rPr b="1" sz="1500">
                <a:solidFill>
                  <a:srgbClr val="E6EBF2"/>
                </a:solidFill>
                <a:latin typeface="Segoe UI"/>
              </a:rPr>
              <a:t>3.  "Which transactions are still unreconciled?"  </a:t>
            </a:r>
            <a:r>
              <a:rPr sz="1500">
                <a:solidFill>
                  <a:srgbClr val="8B96A8"/>
                </a:solidFill>
                <a:latin typeface="Segoe UI"/>
              </a:rPr>
              <a:t>Download to Excel — the finance user leaves with the working file, not a screenshot.</a:t>
            </a:r>
          </a:p>
        </p:txBody>
      </p:sp>
      <p:sp>
        <p:nvSpPr>
          <p:cNvPr id="8" name="TextBox 7"/>
          <p:cNvSpPr txBox="1"/>
          <p:nvPr/>
        </p:nvSpPr>
        <p:spPr>
          <a:xfrm>
            <a:off x="822960" y="4352544"/>
            <a:ext cx="10515600" cy="502920"/>
          </a:xfrm>
          <a:prstGeom prst="rect">
            <a:avLst/>
          </a:prstGeom>
          <a:noFill/>
        </p:spPr>
        <p:txBody>
          <a:bodyPr wrap="square">
            <a:spAutoFit/>
          </a:bodyPr>
          <a:lstStyle/>
          <a:p>
            <a:r>
              <a:rPr sz="1500">
                <a:solidFill>
                  <a:srgbClr val="4ADE80"/>
                </a:solidFill>
                <a:latin typeface="Segoe UI"/>
              </a:rPr>
              <a:t>—  </a:t>
            </a:r>
            <a:r>
              <a:rPr b="1" sz="1500">
                <a:solidFill>
                  <a:srgbClr val="E6EBF2"/>
                </a:solidFill>
                <a:latin typeface="Segoe UI"/>
              </a:rPr>
              <a:t>4.  "...with Globex Corporation?"  /  "...next quarter?"  </a:t>
            </a:r>
            <a:r>
              <a:rPr sz="1500">
                <a:solidFill>
                  <a:srgbClr val="8B96A8"/>
                </a:solidFill>
                <a:latin typeface="Segoe UI"/>
              </a:rPr>
              <a:t>Both refused, out loud. The 60 seconds we most want you to watch.</a:t>
            </a:r>
          </a:p>
        </p:txBody>
      </p:sp>
      <p:sp>
        <p:nvSpPr>
          <p:cNvPr id="9" name="TextBox 8"/>
          <p:cNvSpPr txBox="1"/>
          <p:nvPr/>
        </p:nvSpPr>
        <p:spPr>
          <a:xfrm>
            <a:off x="822960" y="5010912"/>
            <a:ext cx="10515600" cy="502920"/>
          </a:xfrm>
          <a:prstGeom prst="rect">
            <a:avLst/>
          </a:prstGeom>
          <a:noFill/>
        </p:spPr>
        <p:txBody>
          <a:bodyPr wrap="square">
            <a:spAutoFit/>
          </a:bodyPr>
          <a:lstStyle/>
          <a:p>
            <a:r>
              <a:rPr sz="1500">
                <a:solidFill>
                  <a:srgbClr val="4ADE80"/>
                </a:solidFill>
                <a:latin typeface="Segoe UI"/>
              </a:rPr>
              <a:t>—  </a:t>
            </a:r>
            <a:r>
              <a:rPr b="1" sz="1500">
                <a:solidFill>
                  <a:srgbClr val="E6EBF2"/>
                </a:solidFill>
                <a:latin typeface="Segoe UI"/>
              </a:rPr>
              <a:t>5.  scripts/selftest.py  </a:t>
            </a:r>
            <a:r>
              <a:rPr sz="1500">
                <a:solidFill>
                  <a:srgbClr val="8B96A8"/>
                </a:solidFill>
                <a:latin typeface="Segoe UI"/>
              </a:rPr>
              <a:t>A stubbed model claims a figure that is nowhere in the data. Watch the verifier reject it.</a:t>
            </a:r>
          </a:p>
        </p:txBody>
      </p:sp>
      <p:sp>
        <p:nvSpPr>
          <p:cNvPr id="10" name="TextBox 9"/>
          <p:cNvSpPr txBox="1"/>
          <p:nvPr/>
        </p:nvSpPr>
        <p:spPr>
          <a:xfrm>
            <a:off x="822960" y="5943600"/>
            <a:ext cx="10515600" cy="457200"/>
          </a:xfrm>
          <a:prstGeom prst="rect">
            <a:avLst/>
          </a:prstGeom>
          <a:noFill/>
        </p:spPr>
        <p:txBody>
          <a:bodyPr wrap="square" anchor="t">
            <a:spAutoFit/>
          </a:bodyPr>
          <a:lstStyle/>
          <a:p>
            <a:pPr algn="l">
              <a:lnSpc>
                <a:spcPct val="125000"/>
              </a:lnSpc>
              <a:spcAft>
                <a:spcPts val="600"/>
              </a:spcAft>
            </a:pPr>
            <a:r>
              <a:rPr sz="1300" b="0">
                <a:solidFill>
                  <a:srgbClr val="FBBF24"/>
                </a:solidFill>
                <a:latin typeface="Segoe UI"/>
              </a:rPr>
              <a:t>If the model host dies mid-demo, nothing breaks — the rule tier answers all of these correctly.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058400" cy="365760"/>
          </a:xfrm>
          <a:prstGeom prst="rect">
            <a:avLst/>
          </a:prstGeom>
          <a:noFill/>
        </p:spPr>
        <p:txBody>
          <a:bodyPr wrap="square" anchor="t">
            <a:spAutoFit/>
          </a:bodyPr>
          <a:lstStyle/>
          <a:p>
            <a:pPr algn="l">
              <a:lnSpc>
                <a:spcPct val="125000"/>
              </a:lnSpc>
              <a:spcAft>
                <a:spcPts val="600"/>
              </a:spcAft>
            </a:pPr>
            <a:r>
              <a:rPr sz="1200" b="1">
                <a:solidFill>
                  <a:srgbClr val="4ADE80"/>
                </a:solidFill>
                <a:latin typeface="Segoe UI"/>
              </a:rPr>
              <a:t>IMPACT</a:t>
            </a:r>
          </a:p>
        </p:txBody>
      </p:sp>
      <p:sp>
        <p:nvSpPr>
          <p:cNvPr id="4" name="TextBox 3"/>
          <p:cNvSpPr txBox="1"/>
          <p:nvPr/>
        </p:nvSpPr>
        <p:spPr>
          <a:xfrm>
            <a:off x="822960" y="914400"/>
            <a:ext cx="10515600" cy="914400"/>
          </a:xfrm>
          <a:prstGeom prst="rect">
            <a:avLst/>
          </a:prstGeom>
          <a:noFill/>
        </p:spPr>
        <p:txBody>
          <a:bodyPr wrap="square" anchor="t">
            <a:spAutoFit/>
          </a:bodyPr>
          <a:lstStyle/>
          <a:p>
            <a:pPr algn="l">
              <a:lnSpc>
                <a:spcPct val="125000"/>
              </a:lnSpc>
              <a:spcAft>
                <a:spcPts val="600"/>
              </a:spcAft>
            </a:pPr>
            <a:r>
              <a:rPr sz="3600" b="1">
                <a:solidFill>
                  <a:srgbClr val="E6EBF2"/>
                </a:solidFill>
                <a:latin typeface="Segoe UI"/>
              </a:rPr>
              <a:t>Seconds instead of a ticket — and an audit trail either way</a:t>
            </a:r>
          </a:p>
        </p:txBody>
      </p:sp>
      <p:sp>
        <p:nvSpPr>
          <p:cNvPr id="5" name="Rectangle 4"/>
          <p:cNvSpPr/>
          <p:nvPr/>
        </p:nvSpPr>
        <p:spPr>
          <a:xfrm>
            <a:off x="822960" y="2468880"/>
            <a:ext cx="3291840" cy="2194560"/>
          </a:xfrm>
          <a:prstGeom prst="rect">
            <a:avLst/>
          </a:prstGeom>
          <a:solidFill>
            <a:srgbClr val="161B25"/>
          </a:solidFill>
          <a:ln w="12700">
            <a:solidFill>
              <a:srgbClr val="262E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2468880"/>
            <a:ext cx="45720" cy="21945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670048"/>
            <a:ext cx="2834640" cy="365760"/>
          </a:xfrm>
          <a:prstGeom prst="rect">
            <a:avLst/>
          </a:prstGeom>
          <a:noFill/>
        </p:spPr>
        <p:txBody>
          <a:bodyPr wrap="square" anchor="t">
            <a:spAutoFit/>
          </a:bodyPr>
          <a:lstStyle/>
          <a:p>
            <a:pPr algn="l">
              <a:lnSpc>
                <a:spcPct val="125000"/>
              </a:lnSpc>
              <a:spcAft>
                <a:spcPts val="600"/>
              </a:spcAft>
            </a:pPr>
            <a:r>
              <a:rPr sz="1500" b="1">
                <a:solidFill>
                  <a:srgbClr val="E6EBF2"/>
                </a:solidFill>
                <a:latin typeface="Segoe UI"/>
              </a:rPr>
              <a:t>For the business</a:t>
            </a:r>
          </a:p>
        </p:txBody>
      </p:sp>
      <p:sp>
        <p:nvSpPr>
          <p:cNvPr id="8" name="TextBox 7"/>
          <p:cNvSpPr txBox="1"/>
          <p:nvPr/>
        </p:nvSpPr>
        <p:spPr>
          <a:xfrm>
            <a:off x="1097280" y="3127248"/>
            <a:ext cx="2834640" cy="1371600"/>
          </a:xfrm>
          <a:prstGeom prst="rect">
            <a:avLst/>
          </a:prstGeom>
          <a:noFill/>
        </p:spPr>
        <p:txBody>
          <a:bodyPr wrap="square" anchor="t">
            <a:spAutoFit/>
          </a:bodyPr>
          <a:lstStyle/>
          <a:p>
            <a:pPr algn="l">
              <a:lnSpc>
                <a:spcPct val="125000"/>
              </a:lnSpc>
              <a:spcAft>
                <a:spcPts val="600"/>
              </a:spcAft>
            </a:pPr>
            <a:r>
              <a:rPr sz="1250" b="0">
                <a:solidFill>
                  <a:srgbClr val="8B96A8"/>
                </a:solidFill>
                <a:latin typeface="Segoe UI"/>
              </a:rPr>
              <a:t>Anyone can ask. Finance ops stops being a query service desk and goes back to higher-value work.</a:t>
            </a:r>
          </a:p>
        </p:txBody>
      </p:sp>
      <p:sp>
        <p:nvSpPr>
          <p:cNvPr id="9" name="Rectangle 8"/>
          <p:cNvSpPr/>
          <p:nvPr/>
        </p:nvSpPr>
        <p:spPr>
          <a:xfrm>
            <a:off x="4343400" y="2468880"/>
            <a:ext cx="3291840" cy="2194560"/>
          </a:xfrm>
          <a:prstGeom prst="rect">
            <a:avLst/>
          </a:prstGeom>
          <a:solidFill>
            <a:srgbClr val="161B25"/>
          </a:solidFill>
          <a:ln w="12700">
            <a:solidFill>
              <a:srgbClr val="262E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3400" y="2468880"/>
            <a:ext cx="45720" cy="219456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2670048"/>
            <a:ext cx="2834640" cy="365760"/>
          </a:xfrm>
          <a:prstGeom prst="rect">
            <a:avLst/>
          </a:prstGeom>
          <a:noFill/>
        </p:spPr>
        <p:txBody>
          <a:bodyPr wrap="square" anchor="t">
            <a:spAutoFit/>
          </a:bodyPr>
          <a:lstStyle/>
          <a:p>
            <a:pPr algn="l">
              <a:lnSpc>
                <a:spcPct val="125000"/>
              </a:lnSpc>
              <a:spcAft>
                <a:spcPts val="600"/>
              </a:spcAft>
            </a:pPr>
            <a:r>
              <a:rPr sz="1500" b="1">
                <a:solidFill>
                  <a:srgbClr val="E6EBF2"/>
                </a:solidFill>
                <a:latin typeface="Segoe UI"/>
              </a:rPr>
              <a:t>For audit</a:t>
            </a:r>
          </a:p>
        </p:txBody>
      </p:sp>
      <p:sp>
        <p:nvSpPr>
          <p:cNvPr id="12" name="TextBox 11"/>
          <p:cNvSpPr txBox="1"/>
          <p:nvPr/>
        </p:nvSpPr>
        <p:spPr>
          <a:xfrm>
            <a:off x="4617720" y="3127248"/>
            <a:ext cx="2834640" cy="1371600"/>
          </a:xfrm>
          <a:prstGeom prst="rect">
            <a:avLst/>
          </a:prstGeom>
          <a:noFill/>
        </p:spPr>
        <p:txBody>
          <a:bodyPr wrap="square" anchor="t">
            <a:spAutoFit/>
          </a:bodyPr>
          <a:lstStyle/>
          <a:p>
            <a:pPr algn="l">
              <a:lnSpc>
                <a:spcPct val="125000"/>
              </a:lnSpc>
              <a:spcAft>
                <a:spcPts val="600"/>
              </a:spcAft>
            </a:pPr>
            <a:r>
              <a:rPr sz="1250" b="0">
                <a:solidFill>
                  <a:srgbClr val="8B96A8"/>
                </a:solidFill>
                <a:latin typeface="Segoe UI"/>
              </a:rPr>
              <a:t>Every answer ships with the plan, the SQL, the assumptions and the source rows. Reproducible on demand.</a:t>
            </a:r>
          </a:p>
        </p:txBody>
      </p:sp>
      <p:sp>
        <p:nvSpPr>
          <p:cNvPr id="13" name="Rectangle 12"/>
          <p:cNvSpPr/>
          <p:nvPr/>
        </p:nvSpPr>
        <p:spPr>
          <a:xfrm>
            <a:off x="7863840" y="2468880"/>
            <a:ext cx="3291840" cy="2194560"/>
          </a:xfrm>
          <a:prstGeom prst="rect">
            <a:avLst/>
          </a:prstGeom>
          <a:solidFill>
            <a:srgbClr val="161B25"/>
          </a:solidFill>
          <a:ln w="12700">
            <a:solidFill>
              <a:srgbClr val="262E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863840" y="2468880"/>
            <a:ext cx="45720" cy="2194560"/>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38160" y="2670048"/>
            <a:ext cx="2834640" cy="365760"/>
          </a:xfrm>
          <a:prstGeom prst="rect">
            <a:avLst/>
          </a:prstGeom>
          <a:noFill/>
        </p:spPr>
        <p:txBody>
          <a:bodyPr wrap="square" anchor="t">
            <a:spAutoFit/>
          </a:bodyPr>
          <a:lstStyle/>
          <a:p>
            <a:pPr algn="l">
              <a:lnSpc>
                <a:spcPct val="125000"/>
              </a:lnSpc>
              <a:spcAft>
                <a:spcPts val="600"/>
              </a:spcAft>
            </a:pPr>
            <a:r>
              <a:rPr sz="1500" b="1">
                <a:solidFill>
                  <a:srgbClr val="E6EBF2"/>
                </a:solidFill>
                <a:latin typeface="Segoe UI"/>
              </a:rPr>
              <a:t>For security</a:t>
            </a:r>
          </a:p>
        </p:txBody>
      </p:sp>
      <p:sp>
        <p:nvSpPr>
          <p:cNvPr id="16" name="TextBox 15"/>
          <p:cNvSpPr txBox="1"/>
          <p:nvPr/>
        </p:nvSpPr>
        <p:spPr>
          <a:xfrm>
            <a:off x="8138160" y="3127248"/>
            <a:ext cx="2834640" cy="1371600"/>
          </a:xfrm>
          <a:prstGeom prst="rect">
            <a:avLst/>
          </a:prstGeom>
          <a:noFill/>
        </p:spPr>
        <p:txBody>
          <a:bodyPr wrap="square" anchor="t">
            <a:spAutoFit/>
          </a:bodyPr>
          <a:lstStyle/>
          <a:p>
            <a:pPr algn="l">
              <a:lnSpc>
                <a:spcPct val="125000"/>
              </a:lnSpc>
              <a:spcAft>
                <a:spcPts val="600"/>
              </a:spcAft>
            </a:pPr>
            <a:r>
              <a:rPr sz="1250" b="0">
                <a:solidFill>
                  <a:srgbClr val="8B96A8"/>
                </a:solidFill>
                <a:latin typeface="Segoe UI"/>
              </a:rPr>
              <a:t>Sensitive columns encrypted at rest and unreachable by query. A 3B model on a laptop — no frontier API bill, and no financial data leaving the building.</a:t>
            </a:r>
          </a:p>
        </p:txBody>
      </p:sp>
      <p:sp>
        <p:nvSpPr>
          <p:cNvPr id="17" name="TextBox 16"/>
          <p:cNvSpPr txBox="1"/>
          <p:nvPr/>
        </p:nvSpPr>
        <p:spPr>
          <a:xfrm>
            <a:off x="822960" y="5029200"/>
            <a:ext cx="10515600" cy="1097280"/>
          </a:xfrm>
          <a:prstGeom prst="rect">
            <a:avLst/>
          </a:prstGeom>
          <a:noFill/>
        </p:spPr>
        <p:txBody>
          <a:bodyPr wrap="square" anchor="t">
            <a:spAutoFit/>
          </a:bodyPr>
          <a:lstStyle/>
          <a:p>
            <a:pPr algn="l">
              <a:lnSpc>
                <a:spcPct val="130000"/>
              </a:lnSpc>
              <a:spcAft>
                <a:spcPts val="600"/>
              </a:spcAft>
            </a:pPr>
            <a:r>
              <a:rPr sz="1600" b="1">
                <a:solidFill>
                  <a:srgbClr val="E6EBF2"/>
                </a:solidFill>
                <a:latin typeface="Segoe UI"/>
              </a:rPr>
              <a:t>Next:</a:t>
            </a:r>
          </a:p>
          <a:p>
            <a:pPr algn="l">
              <a:lnSpc>
                <a:spcPct val="130000"/>
              </a:lnSpc>
              <a:spcAft>
                <a:spcPts val="600"/>
              </a:spcAft>
            </a:pPr>
            <a:r>
              <a:rPr sz="1500" b="0">
                <a:solidFill>
                  <a:srgbClr val="8B96A8"/>
                </a:solidFill>
                <a:latin typeface="Segoe UI"/>
              </a:rPr>
              <a:t>more datasets behind the same plan schema  ·  scheduled digests  ·  approval workflows  ·  the same guardrail in front of any model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058400" cy="365760"/>
          </a:xfrm>
          <a:prstGeom prst="rect">
            <a:avLst/>
          </a:prstGeom>
          <a:noFill/>
        </p:spPr>
        <p:txBody>
          <a:bodyPr wrap="square" anchor="t">
            <a:spAutoFit/>
          </a:bodyPr>
          <a:lstStyle/>
          <a:p>
            <a:pPr algn="l">
              <a:lnSpc>
                <a:spcPct val="125000"/>
              </a:lnSpc>
              <a:spcAft>
                <a:spcPts val="600"/>
              </a:spcAft>
            </a:pPr>
            <a:r>
              <a:rPr sz="1200" b="1">
                <a:solidFill>
                  <a:srgbClr val="4ADE80"/>
                </a:solidFill>
                <a:latin typeface="Segoe UI"/>
              </a:rPr>
              <a:t>BACKUP</a:t>
            </a:r>
          </a:p>
        </p:txBody>
      </p:sp>
      <p:sp>
        <p:nvSpPr>
          <p:cNvPr id="4" name="TextBox 3"/>
          <p:cNvSpPr txBox="1"/>
          <p:nvPr/>
        </p:nvSpPr>
        <p:spPr>
          <a:xfrm>
            <a:off x="822960" y="914400"/>
            <a:ext cx="10515600" cy="914400"/>
          </a:xfrm>
          <a:prstGeom prst="rect">
            <a:avLst/>
          </a:prstGeom>
          <a:noFill/>
        </p:spPr>
        <p:txBody>
          <a:bodyPr wrap="square" anchor="t">
            <a:spAutoFit/>
          </a:bodyPr>
          <a:lstStyle/>
          <a:p>
            <a:pPr algn="l">
              <a:lnSpc>
                <a:spcPct val="125000"/>
              </a:lnSpc>
              <a:spcAft>
                <a:spcPts val="600"/>
              </a:spcAft>
            </a:pPr>
            <a:r>
              <a:rPr sz="3600" b="1">
                <a:solidFill>
                  <a:srgbClr val="E6EBF2"/>
                </a:solidFill>
                <a:latin typeface="Segoe UI"/>
              </a:rPr>
              <a:t>Questions we expect</a:t>
            </a:r>
          </a:p>
        </p:txBody>
      </p:sp>
      <p:sp>
        <p:nvSpPr>
          <p:cNvPr id="5" name="TextBox 4"/>
          <p:cNvSpPr txBox="1"/>
          <p:nvPr/>
        </p:nvSpPr>
        <p:spPr>
          <a:xfrm>
            <a:off x="822960" y="2194560"/>
            <a:ext cx="10515600" cy="502920"/>
          </a:xfrm>
          <a:prstGeom prst="rect">
            <a:avLst/>
          </a:prstGeom>
          <a:noFill/>
        </p:spPr>
        <p:txBody>
          <a:bodyPr wrap="square">
            <a:spAutoFit/>
          </a:bodyPr>
          <a:lstStyle/>
          <a:p>
            <a:r>
              <a:rPr sz="1450">
                <a:solidFill>
                  <a:srgbClr val="4ADE80"/>
                </a:solidFill>
                <a:latin typeface="Segoe UI"/>
              </a:rPr>
              <a:t>—  </a:t>
            </a:r>
            <a:r>
              <a:rPr b="1" sz="1450">
                <a:solidFill>
                  <a:srgbClr val="E6EBF2"/>
                </a:solidFill>
                <a:latin typeface="Segoe UI"/>
              </a:rPr>
              <a:t>"What if the model picks the wrong filter?"  </a:t>
            </a:r>
            <a:r>
              <a:rPr sz="1450">
                <a:solidFill>
                  <a:srgbClr val="8B96A8"/>
                </a:solidFill>
                <a:latin typeface="Segoe UI"/>
              </a:rPr>
              <a:t>Visible in the explain panel, and asserted structurally in the benchmark - not just the final number.</a:t>
            </a:r>
          </a:p>
        </p:txBody>
      </p:sp>
      <p:sp>
        <p:nvSpPr>
          <p:cNvPr id="6" name="TextBox 5"/>
          <p:cNvSpPr txBox="1"/>
          <p:nvPr/>
        </p:nvSpPr>
        <p:spPr>
          <a:xfrm>
            <a:off x="822960" y="2852928"/>
            <a:ext cx="10515600" cy="502920"/>
          </a:xfrm>
          <a:prstGeom prst="rect">
            <a:avLst/>
          </a:prstGeom>
          <a:noFill/>
        </p:spPr>
        <p:txBody>
          <a:bodyPr wrap="square">
            <a:spAutoFit/>
          </a:bodyPr>
          <a:lstStyle/>
          <a:p>
            <a:r>
              <a:rPr sz="1450">
                <a:solidFill>
                  <a:srgbClr val="4ADE80"/>
                </a:solidFill>
                <a:latin typeface="Segoe UI"/>
              </a:rPr>
              <a:t>—  </a:t>
            </a:r>
            <a:r>
              <a:rPr b="1" sz="1450">
                <a:solidFill>
                  <a:srgbClr val="E6EBF2"/>
                </a:solidFill>
                <a:latin typeface="Segoe UI"/>
              </a:rPr>
              <a:t>"Why not text-to-SQL?"  </a:t>
            </a:r>
            <a:r>
              <a:rPr sz="1450">
                <a:solidFill>
                  <a:srgbClr val="8B96A8"/>
                </a:solidFill>
                <a:latin typeface="Segoe UI"/>
              </a:rPr>
              <a:t>Free-form SQL from a small model is unverifiable. A fixed plan schema is checkable field by field.</a:t>
            </a:r>
          </a:p>
        </p:txBody>
      </p:sp>
      <p:sp>
        <p:nvSpPr>
          <p:cNvPr id="7" name="TextBox 6"/>
          <p:cNvSpPr txBox="1"/>
          <p:nvPr/>
        </p:nvSpPr>
        <p:spPr>
          <a:xfrm>
            <a:off x="822960" y="3511296"/>
            <a:ext cx="10515600" cy="502920"/>
          </a:xfrm>
          <a:prstGeom prst="rect">
            <a:avLst/>
          </a:prstGeom>
          <a:noFill/>
        </p:spPr>
        <p:txBody>
          <a:bodyPr wrap="square">
            <a:spAutoFit/>
          </a:bodyPr>
          <a:lstStyle/>
          <a:p>
            <a:r>
              <a:rPr sz="1450">
                <a:solidFill>
                  <a:srgbClr val="4ADE80"/>
                </a:solidFill>
                <a:latin typeface="Segoe UI"/>
              </a:rPr>
              <a:t>—  </a:t>
            </a:r>
            <a:r>
              <a:rPr b="1" sz="1450">
                <a:solidFill>
                  <a:srgbClr val="E6EBF2"/>
                </a:solidFill>
                <a:latin typeface="Segoe UI"/>
              </a:rPr>
              <a:t>"Does it scale?"  </a:t>
            </a:r>
            <a:r>
              <a:rPr sz="1450">
                <a:solidFill>
                  <a:srgbClr val="8B96A8"/>
                </a:solidFill>
                <a:latin typeface="Segoe UI"/>
              </a:rPr>
              <a:t>20,000,000 rows, 401 ms end to end, accuracy unchanged. Measured, reproducible.</a:t>
            </a:r>
          </a:p>
        </p:txBody>
      </p:sp>
      <p:sp>
        <p:nvSpPr>
          <p:cNvPr id="8" name="TextBox 7"/>
          <p:cNvSpPr txBox="1"/>
          <p:nvPr/>
        </p:nvSpPr>
        <p:spPr>
          <a:xfrm>
            <a:off x="822960" y="4169664"/>
            <a:ext cx="10515600" cy="502920"/>
          </a:xfrm>
          <a:prstGeom prst="rect">
            <a:avLst/>
          </a:prstGeom>
          <a:noFill/>
        </p:spPr>
        <p:txBody>
          <a:bodyPr wrap="square">
            <a:spAutoFit/>
          </a:bodyPr>
          <a:lstStyle/>
          <a:p>
            <a:r>
              <a:rPr sz="1450">
                <a:solidFill>
                  <a:srgbClr val="4ADE80"/>
                </a:solidFill>
                <a:latin typeface="Segoe UI"/>
              </a:rPr>
              <a:t>—  </a:t>
            </a:r>
            <a:r>
              <a:rPr b="1" sz="1450">
                <a:solidFill>
                  <a:srgbClr val="E6EBF2"/>
                </a:solidFill>
                <a:latin typeface="Segoe UI"/>
              </a:rPr>
              <a:t>"What about a question you don't support?"  </a:t>
            </a:r>
            <a:r>
              <a:rPr sz="1450">
                <a:solidFill>
                  <a:srgbClr val="8B96A8"/>
                </a:solidFill>
                <a:latin typeface="Segoe UI"/>
              </a:rPr>
              <a:t>It refuses and says what it can answer. Coverage grows by adding fields to one catalog file.</a:t>
            </a:r>
          </a:p>
        </p:txBody>
      </p:sp>
      <p:sp>
        <p:nvSpPr>
          <p:cNvPr id="9" name="TextBox 8"/>
          <p:cNvSpPr txBox="1"/>
          <p:nvPr/>
        </p:nvSpPr>
        <p:spPr>
          <a:xfrm>
            <a:off x="822960" y="4828032"/>
            <a:ext cx="10515600" cy="502920"/>
          </a:xfrm>
          <a:prstGeom prst="rect">
            <a:avLst/>
          </a:prstGeom>
          <a:noFill/>
        </p:spPr>
        <p:txBody>
          <a:bodyPr wrap="square">
            <a:spAutoFit/>
          </a:bodyPr>
          <a:lstStyle/>
          <a:p>
            <a:r>
              <a:rPr sz="1450">
                <a:solidFill>
                  <a:srgbClr val="4ADE80"/>
                </a:solidFill>
                <a:latin typeface="Segoe UI"/>
              </a:rPr>
              <a:t>—  </a:t>
            </a:r>
            <a:r>
              <a:rPr b="1" sz="1450">
                <a:solidFill>
                  <a:srgbClr val="E6EBF2"/>
                </a:solidFill>
                <a:latin typeface="Segoe UI"/>
              </a:rPr>
              <a:t>"Is the LLM doing anything at all?"  </a:t>
            </a:r>
            <a:r>
              <a:rPr sz="1450">
                <a:solidFill>
                  <a:srgbClr val="8B96A8"/>
                </a:solidFill>
                <a:latin typeface="Segoe UI"/>
              </a:rPr>
              <a:t>Language understanding. Turn it off and the scripted questions still pass - that is the point.</a:t>
            </a:r>
          </a:p>
        </p:txBody>
      </p:sp>
      <p:sp>
        <p:nvSpPr>
          <p:cNvPr id="10" name="TextBox 9"/>
          <p:cNvSpPr txBox="1"/>
          <p:nvPr/>
        </p:nvSpPr>
        <p:spPr>
          <a:xfrm>
            <a:off x="822960" y="5486399"/>
            <a:ext cx="10515600" cy="502920"/>
          </a:xfrm>
          <a:prstGeom prst="rect">
            <a:avLst/>
          </a:prstGeom>
          <a:noFill/>
        </p:spPr>
        <p:txBody>
          <a:bodyPr wrap="square">
            <a:spAutoFit/>
          </a:bodyPr>
          <a:lstStyle/>
          <a:p>
            <a:r>
              <a:rPr sz="1450">
                <a:solidFill>
                  <a:srgbClr val="4ADE80"/>
                </a:solidFill>
                <a:latin typeface="Segoe UI"/>
              </a:rPr>
              <a:t>—  </a:t>
            </a:r>
            <a:r>
              <a:rPr b="1" sz="1450">
                <a:solidFill>
                  <a:srgbClr val="E6EBF2"/>
                </a:solidFill>
                <a:latin typeface="Segoe UI"/>
              </a:rPr>
              <a:t>"How do you handle the sensitive columns?"  </a:t>
            </a:r>
            <a:r>
              <a:rPr sz="1450">
                <a:solidFill>
                  <a:srgbClr val="8B96A8"/>
                </a:solidFill>
                <a:latin typeface="Segoe UI"/>
              </a:rPr>
              <a:t>Encrypted at rest, decrypted once at load, absent from the query catalog, refused at the planner.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