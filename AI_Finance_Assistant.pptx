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  <p:sldId id="256" r:id="rId3"/>
    <p:sldId id="260" r:id="rId4"/>
    <p:sldId id="258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30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 smtClean="0"/>
              <a:t>AI Finance Assistant</a:t>
            </a:r>
          </a:p>
          <a:p>
            <a:pPr algn="ctr"/>
            <a:endParaRPr lang="en-US" dirty="0"/>
          </a:p>
          <a:p>
            <a:pPr algn="ctr"/>
            <a:r>
              <a:rPr lang="en-US" dirty="0" err="1" smtClean="0"/>
              <a:t>Gayathri</a:t>
            </a:r>
            <a:r>
              <a:rPr lang="en-US" dirty="0" smtClean="0"/>
              <a:t> </a:t>
            </a:r>
            <a:r>
              <a:rPr lang="en-US" dirty="0" err="1" smtClean="0"/>
              <a:t>Lekshmi</a:t>
            </a:r>
            <a:r>
              <a:rPr lang="en-US" dirty="0" smtClean="0"/>
              <a:t> Devi</a:t>
            </a:r>
          </a:p>
          <a:p>
            <a:pPr algn="ctr"/>
            <a:r>
              <a:rPr lang="en-US" dirty="0" smtClean="0"/>
              <a:t>Surya </a:t>
            </a:r>
            <a:r>
              <a:rPr lang="en-US" dirty="0" err="1" smtClean="0"/>
              <a:t>Sachan</a:t>
            </a:r>
            <a:endParaRPr lang="en-US" dirty="0" smtClean="0"/>
          </a:p>
          <a:p>
            <a:pPr algn="ctr"/>
            <a:r>
              <a:rPr lang="en-US" dirty="0" smtClean="0"/>
              <a:t>Jahnavi Dadireddy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43702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41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rPr dirty="0" smtClean="0"/>
              <a:t>THE </a:t>
            </a:r>
            <a:r>
              <a:rPr dirty="0"/>
              <a:t>CHALLENGE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rPr dirty="0"/>
              <a:t>Why Traditional </a:t>
            </a:r>
            <a:r>
              <a:rPr dirty="0" err="1"/>
              <a:t>GenAI</a:t>
            </a:r>
            <a:r>
              <a:rPr dirty="0"/>
              <a:t> Fails in Financial Analytics</a:t>
            </a:r>
          </a:p>
          <a:p>
            <a:pPr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rPr dirty="0"/>
              <a:t>Finance requires 100% precision. Standard LLMs are probabilistic, prone to hallucinations, and lack auditability.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965960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rPr dirty="0"/>
              <a:t>01. The Hallucination Hazard</a:t>
            </a:r>
          </a:p>
          <a:p>
            <a:pPr>
              <a:spcBef>
                <a:spcPts val="1000"/>
              </a:spcBef>
              <a:spcAft>
                <a:spcPts val="1400"/>
              </a:spcAft>
              <a:defRPr sz="1200">
                <a:solidFill>
                  <a:srgbClr val="CBD5E1"/>
                </a:solidFill>
              </a:defRPr>
            </a:pPr>
            <a:r>
              <a:rPr dirty="0"/>
              <a:t>LLMs invent plausible numbers, miscalculate sums, and fabricate transactions. In finance, an answer that is 'roughly right' is completely unacceptable.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rPr dirty="0"/>
              <a:t>• LLMs cannot do reliable multi-step math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rPr dirty="0"/>
              <a:t>• Unchecked outputs create compliance &amp; balance sheet risks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rPr dirty="0"/>
              <a:t>• Generative text conceals subtle data fabrication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73736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17720" y="1965960"/>
            <a:ext cx="287121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818CF8"/>
                </a:solidFill>
              </a:defRPr>
            </a:pPr>
            <a:r>
              <a:rPr dirty="0"/>
              <a:t>02. The Security &amp; Cost Barrier</a:t>
            </a:r>
          </a:p>
          <a:p>
            <a:pPr>
              <a:spcBef>
                <a:spcPts val="1000"/>
              </a:spcBef>
              <a:spcAft>
                <a:spcPts val="1400"/>
              </a:spcAft>
              <a:defRPr sz="1200">
                <a:solidFill>
                  <a:srgbClr val="CBD5E1"/>
                </a:solidFill>
              </a:defRPr>
            </a:pPr>
            <a:r>
              <a:rPr dirty="0"/>
              <a:t>Sending enterprise ledger data to cloud frontier </a:t>
            </a:r>
            <a:r>
              <a:rPr dirty="0" smtClean="0"/>
              <a:t>models </a:t>
            </a:r>
            <a:r>
              <a:rPr dirty="0"/>
              <a:t>creates massive privacy exposure and unsustainable token bills.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rPr dirty="0"/>
              <a:t>• High latency and recurring token costs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rPr dirty="0"/>
              <a:t>• Sensitive vendor/account data exposed to external APIs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rPr dirty="0"/>
              <a:t>• Complete dependency on internet availability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73736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75320" y="1965960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BBF24"/>
                </a:solidFill>
              </a:defRPr>
            </a:pPr>
            <a:r>
              <a:t>03. The 'Black Box' Trust Deficit</a:t>
            </a:r>
          </a:p>
          <a:p>
            <a:pPr>
              <a:spcBef>
                <a:spcPts val="1000"/>
              </a:spcBef>
              <a:spcAft>
                <a:spcPts val="1400"/>
              </a:spcAft>
              <a:defRPr sz="1200">
                <a:solidFill>
                  <a:srgbClr val="CBD5E1"/>
                </a:solidFill>
              </a:defRPr>
            </a:pPr>
            <a:r>
              <a:t>When an AI claims 'spend was ₹4.2 Cr', auditors and CFOs cannot verify how the number was derived or what filters were applied.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Zero lineage back to underlying records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No inspectable SQL or query plan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Inability to prove reconciliation or spot anomalies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5899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rPr lang="en-US" dirty="0" smtClean="0"/>
              <a:t>ARCHITECTURE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rPr lang="en-US" dirty="0" smtClean="0"/>
              <a:t>High-level Overview</a:t>
            </a:r>
            <a:endParaRPr dirty="0" smtClean="0"/>
          </a:p>
        </p:txBody>
      </p:sp>
      <p:pic>
        <p:nvPicPr>
          <p:cNvPr id="8" name="Picture 7" descr="architecture_high_level_design.png"/>
          <p:cNvPicPr>
            <a:picLocks noChangeAspect="1"/>
          </p:cNvPicPr>
          <p:nvPr/>
        </p:nvPicPr>
        <p:blipFill rotWithShape="1">
          <a:blip r:embed="rId2"/>
          <a:srcRect l="2496" t="8088" r="3233" b="34586"/>
          <a:stretch/>
        </p:blipFill>
        <p:spPr>
          <a:xfrm>
            <a:off x="28172" y="1422400"/>
            <a:ext cx="12163523" cy="401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87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41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rPr dirty="0" smtClean="0"/>
              <a:t>MODEL </a:t>
            </a:r>
            <a:r>
              <a:rPr dirty="0"/>
              <a:t>CHOICE RATIONALE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rPr dirty="0"/>
              <a:t>Selected Model: Qwen2.5-3B-Instruct — Lowest Size, Maximum Reliability</a:t>
            </a:r>
          </a:p>
          <a:p>
            <a:pPr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rPr dirty="0"/>
              <a:t>Why a compact 3B local model outperforms bloated frontier models for enterprise financial inquiry.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621792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965960"/>
            <a:ext cx="5669280" cy="2959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rPr dirty="0"/>
              <a:t>Strategic Advantages of Qwen2.5-3B-Instruct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rPr dirty="0"/>
              <a:t>1. Narrow Responsibility by Design</a:t>
            </a:r>
          </a:p>
          <a:p>
            <a:pPr>
              <a:spcBef>
                <a:spcPts val="200"/>
              </a:spcBef>
              <a:defRPr sz="1100">
                <a:solidFill>
                  <a:srgbClr val="CBD5E1"/>
                </a:solidFill>
              </a:defRPr>
            </a:pPr>
            <a:r>
              <a:rPr dirty="0"/>
              <a:t>The LLM is only tasked with slot-filling into a 10-key JSON schema and phrasing final text. It is NEVER asked to write arbitrary SQL or compute arithmetic.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rPr dirty="0"/>
              <a:t>2. Ultra-Lightweight Local Execution</a:t>
            </a:r>
          </a:p>
          <a:p>
            <a:pPr>
              <a:spcBef>
                <a:spcPts val="200"/>
              </a:spcBef>
              <a:defRPr sz="1100">
                <a:solidFill>
                  <a:srgbClr val="CBD5E1"/>
                </a:solidFill>
              </a:defRPr>
            </a:pPr>
            <a:r>
              <a:rPr dirty="0"/>
              <a:t>Consumes just ~2GB RAM at 4-bit </a:t>
            </a:r>
            <a:r>
              <a:rPr dirty="0" err="1"/>
              <a:t>quantisation</a:t>
            </a:r>
            <a:r>
              <a:rPr dirty="0"/>
              <a:t>. Runs effortlessly on CPU/laptop via </a:t>
            </a:r>
            <a:r>
              <a:rPr dirty="0" err="1"/>
              <a:t>Ollama</a:t>
            </a:r>
            <a:r>
              <a:rPr dirty="0"/>
              <a:t> with zero external cloud dependencies or API costs.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rPr dirty="0"/>
              <a:t>3. Superior JSON Adherence</a:t>
            </a:r>
          </a:p>
          <a:p>
            <a:pPr>
              <a:spcBef>
                <a:spcPts val="200"/>
              </a:spcBef>
              <a:defRPr sz="1100">
                <a:solidFill>
                  <a:srgbClr val="CBD5E1"/>
                </a:solidFill>
              </a:defRPr>
            </a:pPr>
            <a:r>
              <a:rPr dirty="0"/>
              <a:t>Outperformed comparable models (Llama-3.2-3B, Phi-3.5-mini) in adhering strictly to JSON formatting without verbose, </a:t>
            </a:r>
            <a:r>
              <a:rPr dirty="0" err="1"/>
              <a:t>unparseable</a:t>
            </a:r>
            <a:r>
              <a:rPr dirty="0"/>
              <a:t> conversational filler.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rPr dirty="0"/>
              <a:t>4. </a:t>
            </a:r>
            <a:r>
              <a:rPr dirty="0" smtClean="0"/>
              <a:t>Deterministic </a:t>
            </a:r>
            <a:r>
              <a:rPr dirty="0"/>
              <a:t>Safety Net</a:t>
            </a:r>
          </a:p>
          <a:p>
            <a:pPr>
              <a:spcBef>
                <a:spcPts val="200"/>
              </a:spcBef>
              <a:defRPr sz="1100">
                <a:solidFill>
                  <a:srgbClr val="CBD5E1"/>
                </a:solidFill>
              </a:defRPr>
            </a:pPr>
            <a:r>
              <a:rPr dirty="0"/>
              <a:t>The architecture includes a rule-based engine that achieves 20/20 on accuracy benchmarks even when the LLM is completely offline. AI expands phrasing, not accuracy.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78040" y="1737360"/>
            <a:ext cx="4279392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52360" y="1965960"/>
            <a:ext cx="3730752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4D399"/>
                </a:solidFill>
              </a:defRPr>
            </a:pPr>
            <a:r>
              <a:rPr dirty="0"/>
              <a:t>Benchmark &amp; Efficiency Metrics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rPr dirty="0"/>
              <a:t>• Parameter Size: </a:t>
            </a:r>
            <a:r>
              <a:rPr b="0" dirty="0">
                <a:solidFill>
                  <a:srgbClr val="38BDF8"/>
                </a:solidFill>
              </a:rPr>
              <a:t>3 Billion (6× below the 20B cap)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rPr dirty="0"/>
              <a:t>• Benchmark Accuracy: </a:t>
            </a:r>
            <a:r>
              <a:rPr b="0" dirty="0">
                <a:solidFill>
                  <a:srgbClr val="38BDF8"/>
                </a:solidFill>
              </a:rPr>
              <a:t>20 / 20 (100% on ground-truth SQL test)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rPr dirty="0"/>
              <a:t>• Prompt Footprint: </a:t>
            </a:r>
            <a:r>
              <a:rPr b="0" dirty="0">
                <a:solidFill>
                  <a:srgbClr val="38BDF8"/>
                </a:solidFill>
              </a:rPr>
              <a:t>≈ 550 tokens (compact ~350 token schema)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rPr dirty="0" smtClean="0"/>
              <a:t>• </a:t>
            </a:r>
            <a:r>
              <a:rPr dirty="0"/>
              <a:t>Query Latency: </a:t>
            </a:r>
            <a:r>
              <a:rPr b="0" dirty="0">
                <a:solidFill>
                  <a:srgbClr val="38BDF8"/>
                </a:solidFill>
              </a:rPr>
              <a:t>3 – 65 </a:t>
            </a:r>
            <a:r>
              <a:rPr b="0" dirty="0" err="1">
                <a:solidFill>
                  <a:srgbClr val="38BDF8"/>
                </a:solidFill>
              </a:rPr>
              <a:t>ms</a:t>
            </a:r>
            <a:r>
              <a:rPr b="0" dirty="0">
                <a:solidFill>
                  <a:srgbClr val="38BDF8"/>
                </a:solidFill>
              </a:rPr>
              <a:t> on </a:t>
            </a:r>
            <a:r>
              <a:rPr b="0" dirty="0" err="1">
                <a:solidFill>
                  <a:srgbClr val="38BDF8"/>
                </a:solidFill>
              </a:rPr>
              <a:t>DuckDB</a:t>
            </a:r>
            <a:r>
              <a:rPr b="0" dirty="0">
                <a:solidFill>
                  <a:srgbClr val="38BDF8"/>
                </a:solidFill>
              </a:rPr>
              <a:t> (over 250k records)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rPr dirty="0"/>
              <a:t>• Deployment Mode: </a:t>
            </a:r>
            <a:r>
              <a:rPr b="0" dirty="0">
                <a:solidFill>
                  <a:srgbClr val="38BDF8"/>
                </a:solidFill>
              </a:rPr>
              <a:t>Local </a:t>
            </a:r>
            <a:r>
              <a:rPr b="0" dirty="0" err="1">
                <a:solidFill>
                  <a:srgbClr val="38BDF8"/>
                </a:solidFill>
              </a:rPr>
              <a:t>Ollama</a:t>
            </a:r>
            <a:r>
              <a:rPr b="0" dirty="0">
                <a:solidFill>
                  <a:srgbClr val="38BDF8"/>
                </a:solidFill>
              </a:rPr>
              <a:t> / CPU, zero cloud data leak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rPr dirty="0"/>
              <a:t>• Model </a:t>
            </a:r>
            <a:r>
              <a:rPr dirty="0" err="1"/>
              <a:t>Swappability</a:t>
            </a:r>
            <a:r>
              <a:rPr dirty="0"/>
              <a:t>: </a:t>
            </a:r>
            <a:r>
              <a:rPr b="0" dirty="0">
                <a:solidFill>
                  <a:srgbClr val="38BDF8"/>
                </a:solidFill>
              </a:rPr>
              <a:t>Compatible with </a:t>
            </a:r>
            <a:r>
              <a:rPr b="0" dirty="0" err="1">
                <a:solidFill>
                  <a:srgbClr val="38BDF8"/>
                </a:solidFill>
              </a:rPr>
              <a:t>OpenAI</a:t>
            </a:r>
            <a:r>
              <a:rPr b="0" dirty="0">
                <a:solidFill>
                  <a:srgbClr val="38BDF8"/>
                </a:solidFill>
              </a:rPr>
              <a:t>/</a:t>
            </a:r>
            <a:r>
              <a:rPr b="0" dirty="0" err="1">
                <a:solidFill>
                  <a:srgbClr val="38BDF8"/>
                </a:solidFill>
              </a:rPr>
              <a:t>Sarvam</a:t>
            </a:r>
            <a:r>
              <a:rPr b="0" dirty="0">
                <a:solidFill>
                  <a:srgbClr val="38BDF8"/>
                </a:solidFill>
              </a:rPr>
              <a:t> drop-in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41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rPr dirty="0" smtClean="0"/>
              <a:t>LATEST </a:t>
            </a:r>
            <a:r>
              <a:rPr dirty="0"/>
              <a:t>PRODUCTION UPGRADES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rPr dirty="0"/>
              <a:t>Recent Robustness, Guardrails &amp; Performance Optimizations</a:t>
            </a:r>
          </a:p>
          <a:p>
            <a:pPr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rPr dirty="0"/>
              <a:t>Summary of latest defense-in-depth changes added to ensure production resilience.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120640" cy="2057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3F5E"/>
                </a:solidFill>
              </a:defRPr>
            </a:pPr>
            <a:r>
              <a:t>🛡️ Prompt Injection &amp; Social Engineering Defense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50">
                <a:solidFill>
                  <a:srgbClr val="CBD5E1"/>
                </a:solidFill>
              </a:defRPr>
            </a:pPr>
            <a:r>
              <a:t>Added regex filters in planner.py to instantly reject simulated persona attacks ('pretend you have access to passwords') and raw SQL keywords (DROP TABLE, DELETE FROM).</a:t>
            </a:r>
          </a:p>
          <a:p>
            <a:pPr>
              <a:spcBef>
                <a:spcPts val="100"/>
              </a:spcBef>
              <a:defRPr sz="1000">
                <a:solidFill>
                  <a:srgbClr val="F8FAFC"/>
                </a:solidFill>
              </a:defRPr>
            </a:pPr>
            <a:r>
              <a:t>• Rejection happens before LLM or DB execution</a:t>
            </a:r>
          </a:p>
          <a:p>
            <a:pPr>
              <a:spcBef>
                <a:spcPts val="100"/>
              </a:spcBef>
              <a:defRPr sz="1000">
                <a:solidFill>
                  <a:srgbClr val="F8FAFC"/>
                </a:solidFill>
              </a:defRPr>
            </a:pPr>
            <a:r>
              <a:t>• Clear explanatory refusal rather than unhandled crash</a:t>
            </a:r>
          </a:p>
          <a:p>
            <a:pPr>
              <a:spcBef>
                <a:spcPts val="100"/>
              </a:spcBef>
              <a:defRPr sz="1000">
                <a:solidFill>
                  <a:srgbClr val="F8FAFC"/>
                </a:solidFill>
              </a:defRPr>
            </a:pPr>
            <a:r>
              <a:t>• Prevents jailbreak attempts and schema leaks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120640" cy="2057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87452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BBF24"/>
                </a:solidFill>
              </a:defRPr>
            </a:pPr>
            <a:r>
              <a:t>📅 Out-of-Range Period Guardrail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50">
                <a:solidFill>
                  <a:srgbClr val="CBD5E1"/>
                </a:solidFill>
              </a:defRPr>
            </a:pPr>
            <a:r>
              <a:t>Pre-execution date span check in engine.py: verifies whether requested periods fall within known database boundaries before firing DB queries.</a:t>
            </a:r>
          </a:p>
          <a:p>
            <a:pPr>
              <a:spcBef>
                <a:spcPts val="100"/>
              </a:spcBef>
              <a:defRPr sz="1000">
                <a:solidFill>
                  <a:srgbClr val="F8FAFC"/>
                </a:solidFill>
              </a:defRPr>
            </a:pPr>
            <a:r>
              <a:t>• Automatically tells the user exact available date range</a:t>
            </a:r>
          </a:p>
          <a:p>
            <a:pPr>
              <a:spcBef>
                <a:spcPts val="100"/>
              </a:spcBef>
              <a:defRPr sz="1000">
                <a:solidFill>
                  <a:srgbClr val="F8FAFC"/>
                </a:solidFill>
              </a:defRPr>
            </a:pPr>
            <a:r>
              <a:t>• Prevents confusing 'no data found' for out-of-bounds dates</a:t>
            </a:r>
          </a:p>
          <a:p>
            <a:pPr>
              <a:spcBef>
                <a:spcPts val="100"/>
              </a:spcBef>
              <a:defRPr sz="1000">
                <a:solidFill>
                  <a:srgbClr val="F8FAFC"/>
                </a:solidFill>
              </a:defRPr>
            </a:pPr>
            <a:r>
              <a:t>• Resolves anchor date dynamically from DuckDB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120640" cy="2057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25196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⚡ Monthly Rollup Pre-Aggregation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50">
                <a:solidFill>
                  <a:srgbClr val="CBD5E1"/>
                </a:solidFill>
              </a:defRPr>
            </a:pPr>
            <a:r>
              <a:t>Introduced v_rollup_monthly pre-aggregated view in DuckDB for high-level monthly trends and aggregations.</a:t>
            </a:r>
          </a:p>
          <a:p>
            <a:pPr>
              <a:spcBef>
                <a:spcPts val="100"/>
              </a:spcBef>
              <a:defRPr sz="1000">
                <a:solidFill>
                  <a:srgbClr val="F8FAFC"/>
                </a:solidFill>
              </a:defRPr>
            </a:pPr>
            <a:r>
              <a:t>• Drastically reduces query scan size over massive datasets</a:t>
            </a:r>
          </a:p>
          <a:p>
            <a:pPr>
              <a:spcBef>
                <a:spcPts val="100"/>
              </a:spcBef>
              <a:defRPr sz="1000">
                <a:solidFill>
                  <a:srgbClr val="F8FAFC"/>
                </a:solidFill>
              </a:defRPr>
            </a:pPr>
            <a:r>
              <a:t>• Automatic routing in sql_builder.py for eligible queries</a:t>
            </a:r>
          </a:p>
          <a:p>
            <a:pPr>
              <a:spcBef>
                <a:spcPts val="100"/>
              </a:spcBef>
              <a:defRPr sz="1000">
                <a:solidFill>
                  <a:srgbClr val="F8FAFC"/>
                </a:solidFill>
              </a:defRPr>
            </a:pPr>
            <a:r>
              <a:t>• Keeps response latency consistently sub-50ms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114800"/>
            <a:ext cx="5120640" cy="2057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425196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👻 Ghost-Filter Elimination in Multi-Turn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50">
                <a:solidFill>
                  <a:srgbClr val="CBD5E1"/>
                </a:solidFill>
              </a:defRPr>
            </a:pPr>
            <a:r>
              <a:t>Prevents internal identifiers (e.g. UUID account_id) from leaking into subsequent unrelated questions.</a:t>
            </a:r>
          </a:p>
          <a:p>
            <a:pPr>
              <a:spcBef>
                <a:spcPts val="100"/>
              </a:spcBef>
              <a:defRPr sz="1000">
                <a:solidFill>
                  <a:srgbClr val="F8FAFC"/>
                </a:solidFill>
              </a:defRPr>
            </a:pPr>
            <a:r>
              <a:t>• Strips ghost filters unless question explicitly restates account</a:t>
            </a:r>
          </a:p>
          <a:p>
            <a:pPr>
              <a:spcBef>
                <a:spcPts val="100"/>
              </a:spcBef>
              <a:defRPr sz="1000">
                <a:solidFill>
                  <a:srgbClr val="F8FAFC"/>
                </a:solidFill>
              </a:defRPr>
            </a:pPr>
            <a:r>
              <a:t>• Handles period transitions cleanly across multi-turn chat</a:t>
            </a:r>
          </a:p>
          <a:p>
            <a:pPr>
              <a:spcBef>
                <a:spcPts val="100"/>
              </a:spcBef>
              <a:defRPr sz="1000">
                <a:solidFill>
                  <a:srgbClr val="F8FAFC"/>
                </a:solidFill>
              </a:defRPr>
            </a:pPr>
            <a:r>
              <a:t>• Retains 100% (20/20) benchmark accuracy across test suites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 smtClean="0"/>
              <a:t>Thank you</a:t>
            </a:r>
            <a:endParaRPr sz="5400" dirty="0"/>
          </a:p>
        </p:txBody>
      </p:sp>
    </p:spTree>
    <p:extLst>
      <p:ext uri="{BB962C8B-B14F-4D97-AF65-F5344CB8AC3E}">
        <p14:creationId xmlns:p14="http://schemas.microsoft.com/office/powerpoint/2010/main" val="2788188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658</Words>
  <Application>Microsoft Office PowerPoint</Application>
  <PresentationFormat>Widescreen</PresentationFormat>
  <Paragraphs>68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Dadireddy Jahnavi</cp:lastModifiedBy>
  <cp:revision>3</cp:revision>
  <dcterms:created xsi:type="dcterms:W3CDTF">2013-01-27T09:14:16Z</dcterms:created>
  <dcterms:modified xsi:type="dcterms:W3CDTF">2026-09-05T12:08:41Z</dcterms:modified>
  <cp:category/>
</cp:coreProperties>
</file>